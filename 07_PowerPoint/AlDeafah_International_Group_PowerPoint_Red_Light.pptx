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6421f9ff-d36c-d313-552b-a85a1fe23881}">
          <p14:sldIdLst>
            <p14:sldId id="256"/>
            <p14:sldId id="257"/>
          </p14:sldIdLst>
        </p14:section>
        <p14:section name="Who we are" id="{468a4e2d-111c-f767-6cc7-db6259d5b73a}">
          <p14:sldIdLst>
            <p14:sldId id="258"/>
            <p14:sldId id="259"/>
            <p14:sldId id="260"/>
          </p14:sldIdLst>
        </p14:section>
        <p14:section name="Performance" id="{0addf258-ae16-a107-5b48-17b3513f4596}">
          <p14:sldIdLst>
            <p14:sldId id="261"/>
            <p14:sldId id="262"/>
            <p14:sldId id="263"/>
          </p14:sldIdLst>
        </p14:section>
        <p14:section name="Voices" id="{e4f54fd4-9b80-8451-fbf7-40177b7c58f5}">
          <p14:sldIdLst>
            <p14:sldId id="264"/>
            <p14:sldId id="265"/>
          </p14:sldIdLst>
        </p14:section>
        <p14:section name="Details" id="{b48215c8-7453-dc07-1d9a-45f6421b39a8}">
          <p14:sldIdLst>
            <p14:sldId id="266"/>
            <p14:sldId id="267"/>
            <p14:sldId id="268"/>
          </p14:sldIdLst>
        </p14:section>
        <p14:section name="Arabic" id="{6b792cff-c1cc-9c6e-ec55-cd515c4d4168}">
          <p14:sldIdLst>
            <p14:sldId id="269"/>
            <p14:sldId id="270"/>
          </p14:sldIdLst>
        </p14:section>
        <p14:section name="Closing" id="{f1b3de62-dac6-ed34-ca2c-faabcf8fb796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Guests (thousands)</c:v>
                </c:pt>
              </c:strCache>
            </c:strRef>
          </c:tx>
          <c:spPr>
            <a:solidFill>
              <a:srgbClr val="C100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0182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31</c:v>
                </c:pt>
                <c:pt idx="2">
                  <c:v>41</c:v>
                </c:pt>
                <c:pt idx="3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0182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0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585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the title and subtitle only. The logo and pattern are 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97280"/>
            <a:ext cx="3108960" cy="2530262"/>
          </a:xfrm>
          <a:prstGeom prst="rect">
            <a:avLst/>
          </a:prstGeom>
        </p:spPr>
      </p:pic>
      <p:pic>
        <p:nvPicPr>
          <p:cNvPr id="3" name="Image 1" descr="/home/claude/adig/build/pptx/img/pat_beige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100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anel_gol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10701223" y="822960"/>
            <a:ext cx="914400" cy="4164037"/>
          </a:xfrm>
          <a:prstGeom prst="rect">
            <a:avLst/>
          </a:prstGeom>
        </p:spPr>
      </p:pic>
      <p:pic>
        <p:nvPicPr>
          <p:cNvPr id="3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5715000"/>
            <a:ext cx="2011680" cy="570595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line that frames the section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Lef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072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chemeClr val="accent5"/>
                </a:solidFill>
              </a:rPr>
              <a:t>AL DEAFAH INTERNATIONAL GROUP</a:t>
            </a: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Slide title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RT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Right_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384048"/>
            <a:ext cx="1618488" cy="4590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3623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8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مجموعة الضيافة العالمية</a:t>
            </a:r>
            <a:endParaRPr lang="ar-SA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defRPr>
            </a:lvl1pPr>
          </a:lstStyle>
          <a:p>
            <a:pPr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عنوان الشريحة</a:t>
            </a:r>
            <a:endParaRPr lang="ar-SA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AlDeafah-International-Group-CMY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1005840"/>
            <a:ext cx="2377440" cy="1934907"/>
          </a:xfrm>
          <a:prstGeom prst="rect">
            <a:avLst/>
          </a:prstGeom>
        </p:spPr>
      </p:pic>
      <p:pic>
        <p:nvPicPr>
          <p:cNvPr id="3" name="Image 1" descr="/home/claude/adig/build/pptx/img/pat_beige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576072" y="5989320"/>
            <a:ext cx="11039551" cy="715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434340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Presentation title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5074920"/>
            <a:ext cx="11039551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Subtitle or occasion  ·  Makkah,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16916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Who we 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560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6032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Our four lines of service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3429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342900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Performance and reach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429768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Plans for the coming season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51663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steps</a:t>
            </a:r>
            <a:endParaRPr lang="en-US" sz="1800" dirty="0"/>
          </a:p>
        </p:txBody>
      </p:sp>
      <p:pic>
        <p:nvPicPr>
          <p:cNvPr id="18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2542"/>
          <a:stretch/>
        </p:blipFill>
        <p:spPr>
          <a:xfrm>
            <a:off x="9695383" y="1691640"/>
            <a:ext cx="192024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76072" y="21945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Who we are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76072" y="3611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Makkah-based group serving pilgrims across Umrah, transportation, hotels and catering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One group, one standard of hospitality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73736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operates as a Branded House: every service carries the same symbol, the same promise and the same standard.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Use this slide for a short statement next to a photograph. Keep the text under 60 words and the photograph calm and well lit.</a:t>
            </a:r>
            <a:endParaRPr lang="en-US" sz="1800" dirty="0"/>
          </a:p>
        </p:txBody>
      </p:sp>
      <p:pic>
        <p:nvPicPr>
          <p:cNvPr id="4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691640"/>
            <a:ext cx="5214823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5669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Photograph placeholder · replace with a brand image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Four lines of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mage 0" descr="/home/claude/adig/build/pptx/img/symb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011680"/>
            <a:ext cx="731520" cy="74117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0392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50392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Programmes for pilgrims, from arrival to departure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04540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Image 1" descr="/home/claude/adig/build/pptx/img/symb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860" y="2011680"/>
            <a:ext cx="731520" cy="74117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678860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Transportation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3678860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678860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transfers between the holy sites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233008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4" name="Image 2" descr="/home/claude/adig/build/pptx/img/symbo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328" y="2011680"/>
            <a:ext cx="731520" cy="74117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07328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6507328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Hotels and resorts in the holy city of Makkah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61475" y="1737360"/>
            <a:ext cx="2554148" cy="35661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Image 3" descr="/home/claude/adig/build/pptx/img/symbo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795" y="2011680"/>
            <a:ext cx="731520" cy="741177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335795" y="2971800"/>
            <a:ext cx="20055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</a:t>
            </a:r>
            <a:endParaRPr lang="en-US" sz="2000" dirty="0"/>
          </a:p>
        </p:txBody>
      </p:sp>
      <p:sp>
        <p:nvSpPr>
          <p:cNvPr id="21" name="Text 15"/>
          <p:cNvSpPr txBox="1"/>
          <p:nvPr/>
        </p:nvSpPr>
        <p:spPr>
          <a:xfrm>
            <a:off x="9335795" y="3383280"/>
            <a:ext cx="20055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6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335795" y="3931920"/>
            <a:ext cx="20055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Catering for groups and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season in numbers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120k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guests hosted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38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3335960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coaches in the fleet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lines of service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98%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855735" y="3200400"/>
            <a:ext cx="2485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satisfaction score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" y="5120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Replace with real figures. Numbers 60 pt in the accent colour, labels 14 pt muted; never more than four on one slide.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Guests hosted by quarter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76072" y="16459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645920"/>
            <a:ext cx="3660343" cy="4023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0" y="1920240"/>
            <a:ext cx="3111703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the chart says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or three sentences of commentary. Keep one chart per slide and one message per chart.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Roadmap for the season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680027" y="2743200"/>
            <a:ext cx="8831641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714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Rajab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Readiness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05057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7542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Shaʿban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87542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Fleet and staff onboarding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1296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3332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83332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Peak operations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087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124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Shawwal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29124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and recognition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328788" y="25603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9153" y="3154680"/>
            <a:ext cx="2025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Dhu al-Hijjah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499153" y="3520440"/>
            <a:ext cx="20250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Hajj programmes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In the words of our guests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155448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chemeClr val="accent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1581912" y="18288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i="1" dirty="0">
                <a:solidFill>
                  <a:schemeClr val="tx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Calm, dignified and attentive from the first call to the last farewell.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581912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Guest name  ·  Programme, year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dig/build/pptx/img/photo_placeho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0">
              <a:alpha val="5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76072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headline over a photograph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76072" y="3474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ADA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the photograph calm; the black overlay stays at 45 % so white text passes contrast.</a:t>
            </a:r>
            <a:endParaRPr lang="en-US" sz="1500" dirty="0"/>
          </a:p>
        </p:txBody>
      </p:sp>
      <p:pic>
        <p:nvPicPr>
          <p:cNvPr id="6" name="Image 1" descr="/home/claude/adig/build/pptx/img/AlDeafah-International-Group-Left_NEG_CMY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384048"/>
            <a:ext cx="1618488" cy="459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Programme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737360"/>
          <a:ext cx="11039551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2926080"/>
                <a:gridCol w="1828800"/>
                <a:gridCol w="189280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Programme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Nights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Hotel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Transport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Catering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00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Essential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4-star, Makkah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Coach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Breakfast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Premium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5-star, Haram view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Family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Suites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Private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182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Full board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109728" marR="109728" marT="109728" marB="109728">
                    <a:lnL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Two options, side by side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96112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 the fleet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12 new coaches by Ramadan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Own maintenance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Higher fixed cost, full control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3008" y="1737360"/>
            <a:ext cx="5382616" cy="38404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1965960"/>
            <a:ext cx="4742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Option 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331720"/>
            <a:ext cx="4742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Partner for peaks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3017520"/>
            <a:ext cx="474253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Contracted capacity for peak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Lower fixed cost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Less control over service standard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76072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chemeClr val="tx2"/>
                </a:solidFill>
              </a:rPr>
              <a:t>The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76072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4540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404540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04540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3008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233008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61475" y="1737360"/>
            <a:ext cx="2554148" cy="1915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Photo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61475" y="3835851"/>
            <a:ext cx="25541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Surname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61475" y="4201611"/>
            <a:ext cx="25541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Role · Department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8423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خدماتنا الأربع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751783" y="173736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برامج متكاملة للمعتمرين من الوصول إلى المغادرة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أسطول حديث وتنقلات بين المشاعر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 ومنتجعات في مكة المكرمة</a:t>
            </a:r>
            <a:endParaRPr lang="ar-SA" sz="16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ar-SA" altLang="en-US" sz="1600" b="1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 </a:t>
            </a:r>
            <a:pPr algn="r"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ar-SA" altLang="en-US" sz="1600" dirty="0">
                <a:solidFill>
                  <a:schemeClr val="tx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 للمجموعات والفعاليات</a:t>
            </a:r>
            <a:endParaRPr lang="ar-SA" sz="1600" dirty="0"/>
          </a:p>
        </p:txBody>
      </p:sp>
      <p:pic>
        <p:nvPicPr>
          <p:cNvPr id="4" name="Image 0" descr="/home/claude/adig/build/pptx/img/panel_grey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184"/>
          <a:stretch/>
        </p:blipFill>
        <p:spPr>
          <a:xfrm>
            <a:off x="576072" y="1737360"/>
            <a:ext cx="1463040" cy="3657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111703" y="5029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dirty="0">
                <a:solidFill>
                  <a:schemeClr val="tx2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الموسم بالأرقام</a:t>
            </a:r>
            <a:endParaRPr lang="ar-SA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855735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١٢٠ ألف</a:t>
            </a:r>
            <a:endParaRPr lang="ar-SA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855735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ضيف</a:t>
            </a:r>
            <a:endParaRPr lang="ar-SA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95848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٣٨</a:t>
            </a:r>
            <a:endParaRPr lang="ar-SA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095848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حافلة</a:t>
            </a:r>
            <a:endParaRPr lang="ar-SA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335960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٤</a:t>
            </a:r>
            <a:endParaRPr lang="ar-SA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335960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خطوط خدمة</a:t>
            </a:r>
            <a:endParaRPr lang="ar-SA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" y="2011680"/>
            <a:ext cx="24855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800" dirty="0">
                <a:solidFill>
                  <a:schemeClr val="accent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٪٩٨</a:t>
            </a:r>
            <a:endParaRPr lang="ar-SA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3200400"/>
            <a:ext cx="2485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accent5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رضا الضيوف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76072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C585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6072" y="3657600"/>
            <a:ext cx="110395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tx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76072" y="4389120"/>
            <a:ext cx="110395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Kingdom of Saudi Arabia  |  The holy city of Makkah  |  Al Tayssir District, Building 3039  |  Postal code 24231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chemeClr val="accent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Phone +966 12 591 11 10  |  Fax +966 12 548 88 86  |  www.deafah.com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 Deafah Red · Light">
  <a:themeElements>
    <a:clrScheme name="Al Deafah Red · Light">
      <a:dk1>
        <a:srgbClr val="101820"/>
      </a:dk1>
      <a:lt1>
        <a:srgbClr val="FFFFFF"/>
      </a:lt1>
      <a:dk2>
        <a:srgbClr val="C10016"/>
      </a:dk2>
      <a:lt2>
        <a:srgbClr val="F5F2EE"/>
      </a:lt2>
      <a:accent1>
        <a:srgbClr val="C10016"/>
      </a:accent1>
      <a:accent2>
        <a:srgbClr val="E1B87F"/>
      </a:accent2>
      <a:accent3>
        <a:srgbClr val="B6ADA5"/>
      </a:accent3>
      <a:accent4>
        <a:srgbClr val="D6AA42"/>
      </a:accent4>
      <a:accent5>
        <a:srgbClr val="5C5853"/>
      </a:accent5>
      <a:accent6>
        <a:srgbClr val="D29F13"/>
      </a:accent6>
      <a:hlink>
        <a:srgbClr val="C10016"/>
      </a:hlink>
      <a:folHlink>
        <a:srgbClr val="5C5853"/>
      </a:folHlink>
    </a:clrScheme>
    <a:fontScheme name="Al Deafah Red · Light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Deafah International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 Deafah – Red · Light</dc:title>
  <dc:subject>PptxGenJS Presentation</dc:subject>
  <dc:creator>Al Deafah International Group</dc:creator>
  <cp:lastModifiedBy>Al Deafah International Group</cp:lastModifiedBy>
  <cp:revision>1</cp:revision>
  <dcterms:created xsi:type="dcterms:W3CDTF">2026-10-14T12:16:24Z</dcterms:created>
  <dcterms:modified xsi:type="dcterms:W3CDTF">2026-10-14T12:16:24Z</dcterms:modified>
</cp:coreProperties>
</file>