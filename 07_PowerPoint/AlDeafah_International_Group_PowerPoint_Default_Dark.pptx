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6b530f5-4946-1a66-7d74-329f01d415b7}">
          <p14:sldIdLst>
            <p14:sldId id="256"/>
            <p14:sldId id="257"/>
          </p14:sldIdLst>
        </p14:section>
        <p14:section name="Who we are" id="{b4243554-590c-2ce3-45d4-160b2382d752}">
          <p14:sldIdLst>
            <p14:sldId id="258"/>
            <p14:sldId id="259"/>
            <p14:sldId id="260"/>
          </p14:sldIdLst>
        </p14:section>
        <p14:section name="Performance" id="{b998a487-fc59-0b0d-6fe4-47de64a31d2f}">
          <p14:sldIdLst>
            <p14:sldId id="261"/>
            <p14:sldId id="262"/>
            <p14:sldId id="263"/>
          </p14:sldIdLst>
        </p14:section>
        <p14:section name="Voices" id="{2c7b22b2-5333-c8a2-6fea-341343d43341}">
          <p14:sldIdLst>
            <p14:sldId id="264"/>
            <p14:sldId id="265"/>
          </p14:sldIdLst>
        </p14:section>
        <p14:section name="Details" id="{72898ad7-2d7d-bc0b-d780-499f62ef8a47}">
          <p14:sldIdLst>
            <p14:sldId id="266"/>
            <p14:sldId id="267"/>
            <p14:sldId id="268"/>
          </p14:sldIdLst>
        </p14:section>
        <p14:section name="Arabic" id="{bad98904-b52c-e24b-ec80-e5e5274c8cb0}">
          <p14:sldIdLst>
            <p14:sldId id="269"/>
            <p14:sldId id="270"/>
          </p14:sldIdLst>
        </p14:section>
        <p14:section name="Closing" id="{26edc424-b584-1d72-457c-ffd7a851e7c6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Guests (thousands)</c:v>
                </c:pt>
              </c:strCache>
            </c:strRef>
          </c:tx>
          <c:spPr>
            <a:solidFill>
              <a:srgbClr val="D29F1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41</c:v>
                </c:pt>
                <c:pt idx="3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6ADA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6AD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820"/>
        </a:solidFill>
        <a:ln>
          <a:noFill/>
        </a:ln>
        <a:effectLst/>
      </c:spPr>
    </c:plotArea>
    <c:plotVisOnly val="1"/>
    <c:dispBlanksAs val="span"/>
  </c:chart>
  <c:spPr>
    <a:solidFill>
      <a:srgbClr val="1018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the title and subtitle only. The logo and pattern are 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NEG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097280"/>
            <a:ext cx="3108960" cy="2530262"/>
          </a:xfrm>
          <a:prstGeom prst="rect">
            <a:avLst/>
          </a:prstGeom>
        </p:spPr>
      </p:pic>
      <p:pic>
        <p:nvPicPr>
          <p:cNvPr id="3" name="Image 1" descr="/home/claude/adig/build/pptx/img/pat_gol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701223" y="822960"/>
            <a:ext cx="914400" cy="4164037"/>
          </a:xfrm>
          <a:prstGeom prst="rect">
            <a:avLst/>
          </a:prstGeom>
        </p:spPr>
      </p:pic>
      <p:pic>
        <p:nvPicPr>
          <p:cNvPr id="3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715000"/>
            <a:ext cx="2011680" cy="57059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line that frames the section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accent5"/>
                </a:solidFill>
              </a:rPr>
              <a:t>AL DEAFAH INTERNATIONAL GROUP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Slide 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TL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Right_NEG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3623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8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مجموعة الضيافة العالمية</a:t>
            </a:r>
            <a:endParaRPr lang="ar-SA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عنوان الشريحة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NEG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1005840"/>
            <a:ext cx="2377440" cy="1934907"/>
          </a:xfrm>
          <a:prstGeom prst="rect">
            <a:avLst/>
          </a:prstGeom>
        </p:spPr>
      </p:pic>
      <p:pic>
        <p:nvPicPr>
          <p:cNvPr id="3" name="Image 1" descr="/home/claude/adig/build/pptx/img/pat_gol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or occasion  ·  Makkah,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16916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560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Our four lines of service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4290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Performance and reach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2976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Plans for the coming season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51663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steps</a:t>
            </a:r>
            <a:endParaRPr lang="en-US" sz="1800" dirty="0"/>
          </a:p>
        </p:txBody>
      </p:sp>
      <p:pic>
        <p:nvPicPr>
          <p:cNvPr id="18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2542"/>
          <a:stretch/>
        </p:blipFill>
        <p:spPr>
          <a:xfrm>
            <a:off x="9695383" y="1691640"/>
            <a:ext cx="19202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Makkah-based group serving pilgrims across Umrah, transportation, hotels and catering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One group, one standard of hospitality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7373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operates as a Branded House: every service carries the same symbol, the same promise and the same standard.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this slide for a short statement next to a photograph. Keep the text under 60 words and the photograph calm and well lit.</a:t>
            </a:r>
            <a:endParaRPr lang="en-US" sz="1800" dirty="0"/>
          </a:p>
        </p:txBody>
      </p:sp>
      <p:pic>
        <p:nvPicPr>
          <p:cNvPr id="4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91640"/>
            <a:ext cx="521482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Photograph placeholder · replace with a brand image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Four lines of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/home/claude/adig/build/pptx/img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11680"/>
            <a:ext cx="731520" cy="7411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50392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Programmes for pilgrims, from arrival to departure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04540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/home/claude/adig/build/pptx/img/sym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60" y="2011680"/>
            <a:ext cx="731520" cy="74117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78860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Transportation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678860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78860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transfers between the holy sites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3008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Image 2" descr="/home/claude/adig/build/pptx/img/sym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11680"/>
            <a:ext cx="731520" cy="7411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07328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507328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 and resorts in the holy city of Makkah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61475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Image 3" descr="/home/claude/adig/build/pptx/img/symb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795" y="2011680"/>
            <a:ext cx="731520" cy="74117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35795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9335795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335795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 for groups and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season in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120k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guests hosted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35960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coaches in the fleet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095848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lines of service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98%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855735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satisfaction score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Replace with real figures. Numbers 60 pt in the accent colour, labels 14 pt muted; never more than four on one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Guests hosted by quarter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76072" y="16459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45920"/>
            <a:ext cx="3660343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920240"/>
            <a:ext cx="3111703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the chart says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or three sentences of commentary. Keep one chart per slide and one message per chart.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Roadmap for the season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80027" y="2743200"/>
            <a:ext cx="8831641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714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Rajab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Readiness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505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542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Shaʿban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7542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staff onboarding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1296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333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8333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Peak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087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124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Shawwal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9124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Review and recognition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2878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9915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Dhu al-Hijjah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9915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Hajj programmes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In the words of our guests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5544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1581912" y="18288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Calm, dignified and attentive from the first call to the last farewell.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81912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 name  ·  Programme, year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>
              <a:alpha val="5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76072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headline over a photograph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76072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 the photograph calm; the black overlay stays at 45 % so white text passes contrast.</a:t>
            </a:r>
            <a:endParaRPr lang="en-US" sz="1500" dirty="0"/>
          </a:p>
        </p:txBody>
      </p:sp>
      <p:pic>
        <p:nvPicPr>
          <p:cNvPr id="6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Programme comparison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737360"/>
          <a:ext cx="11039551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926080"/>
                <a:gridCol w="1828800"/>
                <a:gridCol w="1892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Programme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Nights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Hotel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Transport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Catering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Essential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4-star, Makkah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Coach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Breakfast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Premium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5-star, Haram view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Family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Suites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Two options,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Grow the fleet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new coaches by Ramadan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Own maintenance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Higher fixed cost, full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Partner for peaks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Contracted capacity for peak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Lower fixed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Less control over service standard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04540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04540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33008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61475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61475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خدماتنا الأربع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751783" y="17373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برامج متكاملة للمعتمرين من الوصول إلى المغادرة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أسطول حديث وتنقلات بين المشاعر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ومنتجعات في مكة المكرمة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للمجموعات والفعاليات</a:t>
            </a:r>
            <a:endParaRPr lang="ar-SA" sz="1600" dirty="0"/>
          </a:p>
        </p:txBody>
      </p:sp>
      <p:pic>
        <p:nvPicPr>
          <p:cNvPr id="4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84"/>
          <a:stretch/>
        </p:blipFill>
        <p:spPr>
          <a:xfrm>
            <a:off x="576072" y="1737360"/>
            <a:ext cx="14630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الموسم بالأرقام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١٢٠ ألف</a:t>
            </a:r>
            <a:endParaRPr lang="ar-SA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855735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ضيف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٣٨</a:t>
            </a:r>
            <a:endParaRPr lang="ar-SA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095848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حافلة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٤</a:t>
            </a:r>
            <a:endParaRPr lang="ar-SA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35960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خطوط خدمة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٪٩٨</a:t>
            </a:r>
            <a:endParaRPr lang="ar-SA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رضا الضيوف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6ADA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657600"/>
            <a:ext cx="11039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438912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Kingdom of Saudi Arabia  |  The holy city of Makkah  |  Al Tayssir District, Building 3039  |  Postal code 24231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Phone +966 12 591 11 10  |  Fax +966 12 548 88 86  |  www.deafah.com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 Deafah Default · Dark">
  <a:themeElements>
    <a:clrScheme name="Al Deafah Default · Dark">
      <a:dk1>
        <a:srgbClr val="FFFFFF"/>
      </a:dk1>
      <a:lt1>
        <a:srgbClr val="101820"/>
      </a:lt1>
      <a:dk2>
        <a:srgbClr val="FFFFFF"/>
      </a:dk2>
      <a:lt2>
        <a:srgbClr val="1C242E"/>
      </a:lt2>
      <a:accent1>
        <a:srgbClr val="D29F13"/>
      </a:accent1>
      <a:accent2>
        <a:srgbClr val="D6AA42"/>
      </a:accent2>
      <a:accent3>
        <a:srgbClr val="B6ADA5"/>
      </a:accent3>
      <a:accent4>
        <a:srgbClr val="D6AA42"/>
      </a:accent4>
      <a:accent5>
        <a:srgbClr val="B6ADA5"/>
      </a:accent5>
      <a:accent6>
        <a:srgbClr val="D29F13"/>
      </a:accent6>
      <a:hlink>
        <a:srgbClr val="D29F13"/>
      </a:hlink>
      <a:folHlink>
        <a:srgbClr val="B6ADA5"/>
      </a:folHlink>
    </a:clrScheme>
    <a:fontScheme name="Al Deafah Default · Dark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Al Deafah International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Deafah – Default · Dark</dc:title>
  <dc:subject>PptxGenJS Presentation</dc:subject>
  <dc:creator>Al Deafah International Group</dc:creator>
  <cp:lastModifiedBy>Al Deafah International Group</cp:lastModifiedBy>
  <cp:revision>1</cp:revision>
  <dcterms:created xsi:type="dcterms:W3CDTF">2026-10-14T12:16:23Z</dcterms:created>
  <dcterms:modified xsi:type="dcterms:W3CDTF">2026-10-14T12:16:23Z</dcterms:modified>
</cp:coreProperties>
</file>