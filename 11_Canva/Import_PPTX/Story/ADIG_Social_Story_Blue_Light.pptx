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0287000" cy="18288000"/>
  <p:notesSz cx="18288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10953750"/>
          </a:xfrm>
          <a:prstGeom prst="rect">
            <a:avLst/>
          </a:prstGeom>
          <a:solidFill>
            <a:srgbClr val="0E4174"/>
          </a:solidFill>
          <a:ln w="12700">
            <a:solidFill>
              <a:srgbClr val="0E4174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7656" y="3067050"/>
            <a:ext cx="2343544" cy="1905000"/>
          </a:xfrm>
          <a:prstGeom prst="rect">
            <a:avLst/>
          </a:prstGeom>
        </p:spPr>
      </p:pic>
      <p:pic>
        <p:nvPicPr>
          <p:cNvPr id="5" name="Image 1" descr="col1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609850"/>
            <a:ext cx="1346655" cy="751723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542925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إعلان  ·  ANNOUNCEMENT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5924550"/>
            <a:ext cx="72390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انطلاق موسم العمرة</a:t>
            </a:r>
            <a:endParaRPr lang="ar-SA" sz="570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6890385"/>
            <a:ext cx="72390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لعام ١٤٤٨ هـ</a:t>
            </a:r>
            <a:endParaRPr lang="ar-SA" sz="4500" dirty="0"/>
          </a:p>
        </p:txBody>
      </p:sp>
      <p:sp>
        <p:nvSpPr>
          <p:cNvPr id="9" name="Shape 5"/>
          <p:cNvSpPr/>
          <p:nvPr/>
        </p:nvSpPr>
        <p:spPr>
          <a:xfrm>
            <a:off x="8458200" y="7814310"/>
            <a:ext cx="1143000" cy="38100"/>
          </a:xfrm>
          <a:prstGeom prst="rect">
            <a:avLst/>
          </a:prstGeom>
          <a:solidFill>
            <a:srgbClr val="008BC4"/>
          </a:solidFill>
          <a:ln w="12700">
            <a:solidFill>
              <a:srgbClr val="008BC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1162050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Umrah season 1448 — bookings now open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501711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11487150"/>
            <a:ext cx="2857500" cy="609600"/>
          </a:xfrm>
          <a:prstGeom prst="rect">
            <a:avLst/>
          </a:prstGeom>
          <a:solidFill>
            <a:srgbClr val="008BC4"/>
          </a:solidFill>
          <a:ln w="12700">
            <a:solidFill>
              <a:srgbClr val="008BC4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1165860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12439650"/>
            <a:ext cx="8915400" cy="9525"/>
          </a:xfrm>
          <a:prstGeom prst="rect">
            <a:avLst/>
          </a:prstGeom>
          <a:solidFill>
            <a:srgbClr val="101820">
              <a:alpha val="25000"/>
            </a:srgbClr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1274445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1274445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1274445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1274445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14540865"/>
            <a:ext cx="891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200" spc="50" kern="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10953750"/>
          </a:xfrm>
          <a:prstGeom prst="rect">
            <a:avLst/>
          </a:prstGeom>
          <a:solidFill>
            <a:srgbClr val="0E4174"/>
          </a:solidFill>
          <a:ln w="12700">
            <a:solidFill>
              <a:srgbClr val="0E4174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7656" y="3067050"/>
            <a:ext cx="2343544" cy="1905000"/>
          </a:xfrm>
          <a:prstGeom prst="rect">
            <a:avLst/>
          </a:prstGeom>
        </p:spPr>
      </p:pic>
      <p:pic>
        <p:nvPicPr>
          <p:cNvPr id="5" name="Image 1" descr="col1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609850"/>
            <a:ext cx="1346655" cy="751723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531495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عرض خاص  ·  SPECIAL OFFER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5772150"/>
            <a:ext cx="7239000" cy="2262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ar-SA" altLang="en-US" sz="14250" b="1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٢٠٪</a:t>
            </a:r>
            <a:endParaRPr lang="ar-SA" sz="1425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7658100"/>
            <a:ext cx="7239000" cy="76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2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خصم على باقات الإقامة</a:t>
            </a:r>
            <a:endParaRPr lang="ar-SA" sz="4200" dirty="0"/>
          </a:p>
        </p:txBody>
      </p:sp>
      <p:sp>
        <p:nvSpPr>
          <p:cNvPr id="9" name="Text 5"/>
          <p:cNvSpPr txBox="1"/>
          <p:nvPr/>
        </p:nvSpPr>
        <p:spPr>
          <a:xfrm>
            <a:off x="2362200" y="8423910"/>
            <a:ext cx="72390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650" dirty="0">
                <a:solidFill>
                  <a:srgbClr val="FFFFFF">
                    <a:alpha val="75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العرض ساري حتى ٣٠ شعبان  ·  تطبّق الشروط والأحكام</a:t>
            </a:r>
            <a:endParaRPr lang="ar-SA" sz="165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1162050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20% off accommodation packages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501711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11487150"/>
            <a:ext cx="2857500" cy="609600"/>
          </a:xfrm>
          <a:prstGeom prst="rect">
            <a:avLst/>
          </a:prstGeom>
          <a:solidFill>
            <a:srgbClr val="008BC4"/>
          </a:solidFill>
          <a:ln w="12700">
            <a:solidFill>
              <a:srgbClr val="008BC4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1165860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12439650"/>
            <a:ext cx="8915400" cy="9525"/>
          </a:xfrm>
          <a:prstGeom prst="rect">
            <a:avLst/>
          </a:prstGeom>
          <a:solidFill>
            <a:srgbClr val="101820">
              <a:alpha val="25000"/>
            </a:srgbClr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1274445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1274445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1274445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1274445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14540865"/>
            <a:ext cx="891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200" spc="50" kern="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hoto_placeh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0953750"/>
          </a:xfrm>
          <a:prstGeom prst="rect">
            <a:avLst/>
          </a:prstGeom>
        </p:spPr>
      </p:pic>
      <p:pic>
        <p:nvPicPr>
          <p:cNvPr id="4" name="Image 1" descr="grad_bla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33812"/>
            <a:ext cx="10287000" cy="7119938"/>
          </a:xfrm>
          <a:prstGeom prst="rect">
            <a:avLst/>
          </a:prstGeom>
        </p:spPr>
      </p:pic>
      <p:pic>
        <p:nvPicPr>
          <p:cNvPr id="5" name="Image 2" descr="AlDeafah-International-Group-NEG-CMY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7656" y="3067050"/>
            <a:ext cx="2343544" cy="19050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85800" y="7978140"/>
            <a:ext cx="8915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عقاراتنا  ·  OUR PROPERTIES</a:t>
            </a:r>
            <a:endParaRPr lang="ar-SA" sz="1800" dirty="0"/>
          </a:p>
        </p:txBody>
      </p:sp>
      <p:sp>
        <p:nvSpPr>
          <p:cNvPr id="7" name="Text 2"/>
          <p:cNvSpPr txBox="1"/>
          <p:nvPr/>
        </p:nvSpPr>
        <p:spPr>
          <a:xfrm>
            <a:off x="685800" y="8397240"/>
            <a:ext cx="89154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إطلالة على الحرم</a:t>
            </a:r>
            <a:endParaRPr lang="ar-SA" sz="570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9382125"/>
            <a:ext cx="89154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أجنحة في قلب مكة المكرمة</a:t>
            </a:r>
            <a:endParaRPr lang="ar-SA" sz="45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1162050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Suites in the heart of Makkah</a:t>
            </a:r>
            <a:endParaRPr lang="en-US" sz="2100" dirty="0"/>
          </a:p>
        </p:txBody>
      </p:sp>
      <p:pic>
        <p:nvPicPr>
          <p:cNvPr id="10" name="Image 3" descr="strip1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453" y="15017115"/>
            <a:ext cx="9574094" cy="661035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6743700" y="11487150"/>
            <a:ext cx="2857500" cy="609600"/>
          </a:xfrm>
          <a:prstGeom prst="rect">
            <a:avLst/>
          </a:prstGeom>
          <a:solidFill>
            <a:srgbClr val="008BC4"/>
          </a:solidFill>
          <a:ln w="12700">
            <a:solidFill>
              <a:srgbClr val="008BC4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6743700" y="1165860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3" name="Shape 7"/>
          <p:cNvSpPr/>
          <p:nvPr/>
        </p:nvSpPr>
        <p:spPr>
          <a:xfrm>
            <a:off x="685800" y="12439650"/>
            <a:ext cx="8915400" cy="9525"/>
          </a:xfrm>
          <a:prstGeom prst="rect">
            <a:avLst/>
          </a:prstGeom>
          <a:solidFill>
            <a:srgbClr val="101820">
              <a:alpha val="25000"/>
            </a:srgbClr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7486650" y="1274445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4866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6" name="Shape 10"/>
          <p:cNvSpPr/>
          <p:nvPr/>
        </p:nvSpPr>
        <p:spPr>
          <a:xfrm>
            <a:off x="5219700" y="1274445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52197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8" name="Shape 12"/>
          <p:cNvSpPr/>
          <p:nvPr/>
        </p:nvSpPr>
        <p:spPr>
          <a:xfrm>
            <a:off x="2952750" y="1274445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29527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0" name="Shape 14"/>
          <p:cNvSpPr/>
          <p:nvPr/>
        </p:nvSpPr>
        <p:spPr>
          <a:xfrm>
            <a:off x="685800" y="1274445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" y="14540865"/>
            <a:ext cx="891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200" spc="50" kern="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0E4174"/>
          </a:solidFill>
          <a:ln w="12700">
            <a:solidFill>
              <a:srgbClr val="0E4174"/>
            </a:solidFill>
            <a:prstDash val="solid"/>
          </a:ln>
        </p:spPr>
      </p:sp>
      <p:pic>
        <p:nvPicPr>
          <p:cNvPr id="3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54551" y="3067050"/>
            <a:ext cx="2577899" cy="2095500"/>
          </a:xfrm>
          <a:prstGeom prst="rect">
            <a:avLst/>
          </a:prstGeom>
        </p:spPr>
      </p:pic>
      <p:pic>
        <p:nvPicPr>
          <p:cNvPr id="4" name="Image 1" descr="field5x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1743" y="5619750"/>
            <a:ext cx="3403515" cy="1346655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85800" y="7499805"/>
            <a:ext cx="8915400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7200" b="1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رمضان مبارك</a:t>
            </a:r>
            <a:endParaRPr lang="ar-SA" sz="72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8741865"/>
            <a:ext cx="89154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2250" spc="30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Ramadan Mubarak</a:t>
            </a:r>
            <a:endParaRPr lang="en-US" sz="225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9365752"/>
            <a:ext cx="89154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950" dirty="0">
                <a:solidFill>
                  <a:srgbClr val="FFFFFF">
                    <a:alpha val="80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تتمنّى لكم مجموعة الضيافة العالمية شهراً مباركاً</a:t>
            </a:r>
            <a:endParaRPr lang="ar-SA" sz="1950" dirty="0"/>
          </a:p>
        </p:txBody>
      </p:sp>
      <p:pic>
        <p:nvPicPr>
          <p:cNvPr id="8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5017115"/>
            <a:ext cx="9574094" cy="6610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5F2EE"/>
          </a:solidFill>
          <a:ln w="12700">
            <a:solidFill>
              <a:srgbClr val="F5F2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3067050"/>
            <a:ext cx="89154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55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قائمة ما قبل النشر — احذف هذه الصفحة قبل التصدير</a:t>
            </a:r>
            <a:endParaRPr lang="ar-SA" sz="2550" dirty="0"/>
          </a:p>
        </p:txBody>
      </p:sp>
      <p:sp>
        <p:nvSpPr>
          <p:cNvPr id="4" name="Shape 2"/>
          <p:cNvSpPr/>
          <p:nvPr/>
        </p:nvSpPr>
        <p:spPr>
          <a:xfrm>
            <a:off x="8458200" y="3733800"/>
            <a:ext cx="1143000" cy="38100"/>
          </a:xfrm>
          <a:prstGeom prst="rect">
            <a:avLst/>
          </a:prstGeom>
          <a:solidFill>
            <a:srgbClr val="8E732A"/>
          </a:solidFill>
          <a:ln w="12700">
            <a:solidFill>
              <a:srgbClr val="8E73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407670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الشعار من Brand Kit أو المجلد 01 فقط؛ بلا تمدد أو تدوير أو ظل أو تغيير لون.</a:t>
            </a:r>
            <a:endParaRPr lang="ar-SA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47484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مسافة آمنة حول الشعار ≥ 0.42 × ارتفاع الرمز، وبعيد عن الحواف بالقدر نفسه.</a:t>
            </a:r>
            <a:endParaRPr lang="ar-SA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87299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الحد الأدنى: الرأسي 120 بكسل عرضاً، الأفقي 200، الرمز وحده 40.</a:t>
            </a:r>
            <a:endParaRPr lang="ar-SA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527113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النقشة: بلوكات كاملة فقط (لا قصّ)، أقلها 2×2، لا تلامس الحافة.</a:t>
            </a:r>
            <a:endParaRPr lang="ar-SA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566928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الخط العربي Almarai فقط؛ اللاتيني كما في القالب. لا خط ثالث.</a:t>
            </a:r>
            <a:endParaRPr lang="ar-SA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606742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الألوان من Brand Kit فقط؛ لا أصفر/رمادي/أخضر/بيج كنص على أبيض.</a:t>
            </a:r>
            <a:endParaRPr lang="ar-SA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646557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لا آيات، لا أسماء الله، لا صور للكعبة أو الحرم كزخرفة.</a:t>
            </a:r>
            <a:endParaRPr lang="ar-SA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686371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النص العربي RTL، الأرقام والهواتف LTR داخل السطر.</a:t>
            </a:r>
            <a:endParaRPr lang="ar-SA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726186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أي نص فوق صورة يحتاج تدرجاً أسود تحته (موجود في صفحة العقار).</a:t>
            </a:r>
            <a:endParaRPr lang="ar-SA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766000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احذف هذه الصفحة قبل التصدير. التصدير: PNG للسوشيال.</a:t>
            </a:r>
            <a:endParaRPr lang="ar-SA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ADIG_Social_Story_Blue_Light</dc:title>
  <dc:subject>PptxGenJS Presentation</dc:subject>
  <dc:creator>PptxGenJS</dc:creator>
  <cp:lastModifiedBy>PptxGenJS</cp:lastModifiedBy>
  <cp:revision>1</cp:revision>
  <dcterms:created xsi:type="dcterms:W3CDTF">2026-10-14T21:25:31Z</dcterms:created>
  <dcterms:modified xsi:type="dcterms:W3CDTF">2026-10-14T21:25:31Z</dcterms:modified>
</cp:coreProperties>
</file>