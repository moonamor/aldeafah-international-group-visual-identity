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0287000" cy="18288000"/>
  <p:notesSz cx="18288000" cy="10287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287000" cy="1828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287000" cy="10953750"/>
          </a:xfrm>
          <a:prstGeom prst="rect">
            <a:avLst/>
          </a:prstGeom>
          <a:solidFill>
            <a:srgbClr val="C10016"/>
          </a:solidFill>
          <a:ln w="12700">
            <a:solidFill>
              <a:srgbClr val="C10016"/>
            </a:solidFill>
            <a:prstDash val="solid"/>
          </a:ln>
        </p:spPr>
      </p:sp>
      <p:pic>
        <p:nvPicPr>
          <p:cNvPr id="4" name="Image 0" descr="AlDeafah-International-Group-NEG-CMY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57656" y="3067050"/>
            <a:ext cx="2343544" cy="1905000"/>
          </a:xfrm>
          <a:prstGeom prst="rect">
            <a:avLst/>
          </a:prstGeom>
        </p:spPr>
      </p:pic>
      <p:pic>
        <p:nvPicPr>
          <p:cNvPr id="5" name="Image 1" descr="col1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2609850"/>
            <a:ext cx="1346655" cy="7517234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362200" y="5429250"/>
            <a:ext cx="7239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800" b="1" spc="100" kern="0" dirty="0">
                <a:solidFill>
                  <a:srgbClr val="E1B87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إعلان  ·  ANNOUNCEMENT</a:t>
            </a:r>
            <a:endParaRPr lang="ar-SA" sz="1800" dirty="0"/>
          </a:p>
        </p:txBody>
      </p:sp>
      <p:sp>
        <p:nvSpPr>
          <p:cNvPr id="7" name="Text 3"/>
          <p:cNvSpPr txBox="1"/>
          <p:nvPr/>
        </p:nvSpPr>
        <p:spPr>
          <a:xfrm>
            <a:off x="2362200" y="5924550"/>
            <a:ext cx="7239000" cy="10406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57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انطلاق موسم العمرة</a:t>
            </a:r>
            <a:endParaRPr lang="ar-SA" sz="5700" dirty="0"/>
          </a:p>
        </p:txBody>
      </p:sp>
      <p:sp>
        <p:nvSpPr>
          <p:cNvPr id="8" name="Text 4"/>
          <p:cNvSpPr txBox="1"/>
          <p:nvPr/>
        </p:nvSpPr>
        <p:spPr>
          <a:xfrm>
            <a:off x="2362200" y="6890385"/>
            <a:ext cx="7239000" cy="8215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4500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لعام ١٤٤٨ هـ</a:t>
            </a:r>
            <a:endParaRPr lang="ar-SA" sz="4500" dirty="0"/>
          </a:p>
        </p:txBody>
      </p:sp>
      <p:sp>
        <p:nvSpPr>
          <p:cNvPr id="9" name="Shape 5"/>
          <p:cNvSpPr/>
          <p:nvPr/>
        </p:nvSpPr>
        <p:spPr>
          <a:xfrm>
            <a:off x="8458200" y="7814310"/>
            <a:ext cx="1143000" cy="38100"/>
          </a:xfrm>
          <a:prstGeom prst="rect">
            <a:avLst/>
          </a:prstGeom>
          <a:solidFill>
            <a:srgbClr val="E1B87F"/>
          </a:solidFill>
          <a:ln w="12700">
            <a:solidFill>
              <a:srgbClr val="E1B87F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85800" y="11620500"/>
            <a:ext cx="58293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2100" dirty="0">
                <a:solidFill>
                  <a:srgbClr val="101820">
                    <a:alpha val="75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Umrah season 1448 — bookings now open</a:t>
            </a:r>
            <a:endParaRPr lang="en-US" sz="2100" dirty="0"/>
          </a:p>
        </p:txBody>
      </p:sp>
      <p:pic>
        <p:nvPicPr>
          <p:cNvPr id="11" name="Image 2" descr="strip1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53" y="15017115"/>
            <a:ext cx="9574094" cy="661035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6743700" y="11487150"/>
            <a:ext cx="2857500" cy="609600"/>
          </a:xfrm>
          <a:prstGeom prst="rect">
            <a:avLst/>
          </a:prstGeom>
          <a:solidFill>
            <a:srgbClr val="E1B87F"/>
          </a:solidFill>
          <a:ln w="12700">
            <a:solidFill>
              <a:srgbClr val="E1B87F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6743700" y="11658600"/>
            <a:ext cx="28575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altLang="en-US" sz="1650" b="1" dirty="0">
                <a:solidFill>
                  <a:srgbClr val="10182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www.deafah.com</a:t>
            </a:r>
            <a:endParaRPr lang="en-US" sz="1650" dirty="0"/>
          </a:p>
        </p:txBody>
      </p:sp>
      <p:sp>
        <p:nvSpPr>
          <p:cNvPr id="14" name="Shape 9"/>
          <p:cNvSpPr/>
          <p:nvPr/>
        </p:nvSpPr>
        <p:spPr>
          <a:xfrm>
            <a:off x="685800" y="12439650"/>
            <a:ext cx="8915400" cy="9525"/>
          </a:xfrm>
          <a:prstGeom prst="rect">
            <a:avLst/>
          </a:prstGeom>
          <a:solidFill>
            <a:srgbClr val="B6ADA5"/>
          </a:solidFill>
          <a:ln w="12700">
            <a:solidFill>
              <a:srgbClr val="B6ADA5"/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7486650" y="12744450"/>
            <a:ext cx="2114550" cy="609600"/>
          </a:xfrm>
          <a:prstGeom prst="rect">
            <a:avLst/>
          </a:prstGeom>
          <a:ln w="19050">
            <a:solidFill>
              <a:srgbClr val="E1B87F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7486650" y="1289685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عمرة</a:t>
            </a:r>
            <a:endParaRPr lang="ar-SA" sz="1800" dirty="0"/>
          </a:p>
        </p:txBody>
      </p:sp>
      <p:sp>
        <p:nvSpPr>
          <p:cNvPr id="17" name="Shape 12"/>
          <p:cNvSpPr/>
          <p:nvPr/>
        </p:nvSpPr>
        <p:spPr>
          <a:xfrm>
            <a:off x="5219700" y="12744450"/>
            <a:ext cx="2114550" cy="609600"/>
          </a:xfrm>
          <a:prstGeom prst="rect">
            <a:avLst/>
          </a:prstGeom>
          <a:ln w="19050">
            <a:solidFill>
              <a:srgbClr val="E1B87F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5219700" y="1289685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نقل</a:t>
            </a:r>
            <a:endParaRPr lang="ar-SA" sz="1800" dirty="0"/>
          </a:p>
        </p:txBody>
      </p:sp>
      <p:sp>
        <p:nvSpPr>
          <p:cNvPr id="19" name="Shape 14"/>
          <p:cNvSpPr/>
          <p:nvPr/>
        </p:nvSpPr>
        <p:spPr>
          <a:xfrm>
            <a:off x="2952750" y="12744450"/>
            <a:ext cx="2114550" cy="609600"/>
          </a:xfrm>
          <a:prstGeom prst="rect">
            <a:avLst/>
          </a:prstGeom>
          <a:ln w="19050">
            <a:solidFill>
              <a:srgbClr val="E1B87F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2952750" y="1289685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فنادق</a:t>
            </a:r>
            <a:endParaRPr lang="ar-SA" sz="1800" dirty="0"/>
          </a:p>
        </p:txBody>
      </p:sp>
      <p:sp>
        <p:nvSpPr>
          <p:cNvPr id="21" name="Shape 16"/>
          <p:cNvSpPr/>
          <p:nvPr/>
        </p:nvSpPr>
        <p:spPr>
          <a:xfrm>
            <a:off x="685800" y="12744450"/>
            <a:ext cx="2114550" cy="609600"/>
          </a:xfrm>
          <a:prstGeom prst="rect">
            <a:avLst/>
          </a:prstGeom>
          <a:ln w="19050">
            <a:solidFill>
              <a:srgbClr val="E1B87F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685800" y="1289685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إعاشة</a:t>
            </a:r>
            <a:endParaRPr lang="ar-SA" sz="1800" dirty="0"/>
          </a:p>
        </p:txBody>
      </p:sp>
      <p:sp>
        <p:nvSpPr>
          <p:cNvPr id="23" name="Text 18"/>
          <p:cNvSpPr txBox="1"/>
          <p:nvPr/>
        </p:nvSpPr>
        <p:spPr>
          <a:xfrm>
            <a:off x="685800" y="14540865"/>
            <a:ext cx="8915400" cy="2143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1125" dirty="0">
                <a:solidFill>
                  <a:srgbClr val="101820">
                    <a:alpha val="60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Al Deafah International Group  ·  Umrah  ·  Transportation  ·  Hotels  ·  Catering</a:t>
            </a:r>
            <a:endParaRPr lang="en-US" sz="1125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287000" cy="1828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287000" cy="10953750"/>
          </a:xfrm>
          <a:prstGeom prst="rect">
            <a:avLst/>
          </a:prstGeom>
          <a:solidFill>
            <a:srgbClr val="C10016"/>
          </a:solidFill>
          <a:ln w="12700">
            <a:solidFill>
              <a:srgbClr val="C10016"/>
            </a:solidFill>
            <a:prstDash val="solid"/>
          </a:ln>
        </p:spPr>
      </p:sp>
      <p:pic>
        <p:nvPicPr>
          <p:cNvPr id="4" name="Image 0" descr="AlDeafah-International-Group-NEG-CMY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57656" y="3067050"/>
            <a:ext cx="2343544" cy="1905000"/>
          </a:xfrm>
          <a:prstGeom prst="rect">
            <a:avLst/>
          </a:prstGeom>
        </p:spPr>
      </p:pic>
      <p:pic>
        <p:nvPicPr>
          <p:cNvPr id="5" name="Image 1" descr="col1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2609850"/>
            <a:ext cx="1346655" cy="7517234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362200" y="5314950"/>
            <a:ext cx="7239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800" b="1" spc="100" kern="0" dirty="0">
                <a:solidFill>
                  <a:srgbClr val="E1B87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عرض خاص  ·  SPECIAL OFFER</a:t>
            </a:r>
            <a:endParaRPr lang="ar-SA" sz="1800" dirty="0"/>
          </a:p>
        </p:txBody>
      </p:sp>
      <p:sp>
        <p:nvSpPr>
          <p:cNvPr id="7" name="Text 3"/>
          <p:cNvSpPr txBox="1"/>
          <p:nvPr/>
        </p:nvSpPr>
        <p:spPr>
          <a:xfrm>
            <a:off x="2362200" y="5772150"/>
            <a:ext cx="7239000" cy="22621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ar-SA" altLang="en-US" sz="14250" b="1" dirty="0">
                <a:solidFill>
                  <a:srgbClr val="E1B87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٢٠٪</a:t>
            </a:r>
            <a:endParaRPr lang="ar-SA" sz="14250" dirty="0"/>
          </a:p>
        </p:txBody>
      </p:sp>
      <p:sp>
        <p:nvSpPr>
          <p:cNvPr id="8" name="Text 4"/>
          <p:cNvSpPr txBox="1"/>
          <p:nvPr/>
        </p:nvSpPr>
        <p:spPr>
          <a:xfrm>
            <a:off x="2362200" y="7658100"/>
            <a:ext cx="7239000" cy="7667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42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خصم على باقات الإقامة</a:t>
            </a:r>
            <a:endParaRPr lang="ar-SA" sz="4200" dirty="0"/>
          </a:p>
        </p:txBody>
      </p:sp>
      <p:sp>
        <p:nvSpPr>
          <p:cNvPr id="9" name="Text 5"/>
          <p:cNvSpPr txBox="1"/>
          <p:nvPr/>
        </p:nvSpPr>
        <p:spPr>
          <a:xfrm>
            <a:off x="2362200" y="8423910"/>
            <a:ext cx="72390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650" dirty="0">
                <a:solidFill>
                  <a:srgbClr val="FFFFFF">
                    <a:alpha val="75000"/>
                  </a:srgbClr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العرض ساري حتى ٣٠ شعبان  ·  تطبّق الشروط والأحكام</a:t>
            </a:r>
            <a:endParaRPr lang="ar-SA" sz="1650" dirty="0"/>
          </a:p>
        </p:txBody>
      </p:sp>
      <p:sp>
        <p:nvSpPr>
          <p:cNvPr id="10" name="Text 6"/>
          <p:cNvSpPr txBox="1"/>
          <p:nvPr/>
        </p:nvSpPr>
        <p:spPr>
          <a:xfrm>
            <a:off x="685800" y="11620500"/>
            <a:ext cx="58293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2100" dirty="0">
                <a:solidFill>
                  <a:srgbClr val="101820">
                    <a:alpha val="75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20% off accommodation packages</a:t>
            </a:r>
            <a:endParaRPr lang="en-US" sz="2100" dirty="0"/>
          </a:p>
        </p:txBody>
      </p:sp>
      <p:pic>
        <p:nvPicPr>
          <p:cNvPr id="11" name="Image 2" descr="strip1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53" y="15017115"/>
            <a:ext cx="9574094" cy="661035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6743700" y="11487150"/>
            <a:ext cx="2857500" cy="609600"/>
          </a:xfrm>
          <a:prstGeom prst="rect">
            <a:avLst/>
          </a:prstGeom>
          <a:solidFill>
            <a:srgbClr val="E1B87F"/>
          </a:solidFill>
          <a:ln w="12700">
            <a:solidFill>
              <a:srgbClr val="E1B87F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6743700" y="11658600"/>
            <a:ext cx="28575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altLang="en-US" sz="1650" b="1" dirty="0">
                <a:solidFill>
                  <a:srgbClr val="10182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www.deafah.com</a:t>
            </a:r>
            <a:endParaRPr lang="en-US" sz="1650" dirty="0"/>
          </a:p>
        </p:txBody>
      </p:sp>
      <p:sp>
        <p:nvSpPr>
          <p:cNvPr id="14" name="Shape 9"/>
          <p:cNvSpPr/>
          <p:nvPr/>
        </p:nvSpPr>
        <p:spPr>
          <a:xfrm>
            <a:off x="685800" y="12439650"/>
            <a:ext cx="8915400" cy="9525"/>
          </a:xfrm>
          <a:prstGeom prst="rect">
            <a:avLst/>
          </a:prstGeom>
          <a:solidFill>
            <a:srgbClr val="B6ADA5"/>
          </a:solidFill>
          <a:ln w="12700">
            <a:solidFill>
              <a:srgbClr val="B6ADA5"/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7486650" y="12744450"/>
            <a:ext cx="2114550" cy="609600"/>
          </a:xfrm>
          <a:prstGeom prst="rect">
            <a:avLst/>
          </a:prstGeom>
          <a:ln w="19050">
            <a:solidFill>
              <a:srgbClr val="E1B87F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7486650" y="1289685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عمرة</a:t>
            </a:r>
            <a:endParaRPr lang="ar-SA" sz="1800" dirty="0"/>
          </a:p>
        </p:txBody>
      </p:sp>
      <p:sp>
        <p:nvSpPr>
          <p:cNvPr id="17" name="Shape 12"/>
          <p:cNvSpPr/>
          <p:nvPr/>
        </p:nvSpPr>
        <p:spPr>
          <a:xfrm>
            <a:off x="5219700" y="12744450"/>
            <a:ext cx="2114550" cy="609600"/>
          </a:xfrm>
          <a:prstGeom prst="rect">
            <a:avLst/>
          </a:prstGeom>
          <a:ln w="19050">
            <a:solidFill>
              <a:srgbClr val="E1B87F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5219700" y="1289685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نقل</a:t>
            </a:r>
            <a:endParaRPr lang="ar-SA" sz="1800" dirty="0"/>
          </a:p>
        </p:txBody>
      </p:sp>
      <p:sp>
        <p:nvSpPr>
          <p:cNvPr id="19" name="Shape 14"/>
          <p:cNvSpPr/>
          <p:nvPr/>
        </p:nvSpPr>
        <p:spPr>
          <a:xfrm>
            <a:off x="2952750" y="12744450"/>
            <a:ext cx="2114550" cy="609600"/>
          </a:xfrm>
          <a:prstGeom prst="rect">
            <a:avLst/>
          </a:prstGeom>
          <a:ln w="19050">
            <a:solidFill>
              <a:srgbClr val="E1B87F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2952750" y="1289685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فنادق</a:t>
            </a:r>
            <a:endParaRPr lang="ar-SA" sz="1800" dirty="0"/>
          </a:p>
        </p:txBody>
      </p:sp>
      <p:sp>
        <p:nvSpPr>
          <p:cNvPr id="21" name="Shape 16"/>
          <p:cNvSpPr/>
          <p:nvPr/>
        </p:nvSpPr>
        <p:spPr>
          <a:xfrm>
            <a:off x="685800" y="12744450"/>
            <a:ext cx="2114550" cy="609600"/>
          </a:xfrm>
          <a:prstGeom prst="rect">
            <a:avLst/>
          </a:prstGeom>
          <a:ln w="19050">
            <a:solidFill>
              <a:srgbClr val="E1B87F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685800" y="1289685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إعاشة</a:t>
            </a:r>
            <a:endParaRPr lang="ar-SA" sz="1800" dirty="0"/>
          </a:p>
        </p:txBody>
      </p:sp>
      <p:sp>
        <p:nvSpPr>
          <p:cNvPr id="23" name="Text 18"/>
          <p:cNvSpPr txBox="1"/>
          <p:nvPr/>
        </p:nvSpPr>
        <p:spPr>
          <a:xfrm>
            <a:off x="685800" y="14540865"/>
            <a:ext cx="8915400" cy="2143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1125" dirty="0">
                <a:solidFill>
                  <a:srgbClr val="101820">
                    <a:alpha val="60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Al Deafah International Group  ·  Umrah  ·  Transportation  ·  Hotels  ·  Catering</a:t>
            </a:r>
            <a:endParaRPr lang="en-US" sz="1125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287000" cy="1828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photo_1080x115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411480" y="-438150"/>
            <a:ext cx="11109960" cy="11830050"/>
          </a:xfrm>
          <a:prstGeom prst="rect">
            <a:avLst/>
          </a:prstGeom>
        </p:spPr>
      </p:pic>
      <p:pic>
        <p:nvPicPr>
          <p:cNvPr id="4" name="Image 1" descr="gradv_1080x748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11480" y="3829050"/>
            <a:ext cx="11109960" cy="7124700"/>
          </a:xfrm>
          <a:prstGeom prst="rect">
            <a:avLst/>
          </a:prstGeom>
        </p:spPr>
      </p:pic>
      <p:pic>
        <p:nvPicPr>
          <p:cNvPr id="5" name="Image 2" descr="AlDeafah-International-Group-NEG-CMY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57656" y="3067050"/>
            <a:ext cx="2343544" cy="1905000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685800" y="7978140"/>
            <a:ext cx="89154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800" b="1" spc="100" kern="0" dirty="0">
                <a:solidFill>
                  <a:srgbClr val="E1B87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عقاراتنا  ·  OUR PROPERTIES</a:t>
            </a:r>
            <a:endParaRPr lang="ar-SA" sz="1800" dirty="0"/>
          </a:p>
        </p:txBody>
      </p:sp>
      <p:sp>
        <p:nvSpPr>
          <p:cNvPr id="7" name="Text 2"/>
          <p:cNvSpPr txBox="1"/>
          <p:nvPr/>
        </p:nvSpPr>
        <p:spPr>
          <a:xfrm>
            <a:off x="685800" y="8397240"/>
            <a:ext cx="8915400" cy="10406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57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إطلالة على الحرم</a:t>
            </a:r>
            <a:endParaRPr lang="ar-SA" sz="5700" dirty="0"/>
          </a:p>
        </p:txBody>
      </p:sp>
      <p:sp>
        <p:nvSpPr>
          <p:cNvPr id="8" name="Text 3"/>
          <p:cNvSpPr txBox="1"/>
          <p:nvPr/>
        </p:nvSpPr>
        <p:spPr>
          <a:xfrm>
            <a:off x="685800" y="9382125"/>
            <a:ext cx="8915400" cy="8215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4500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أجنحة في قلب مكة المكرمة</a:t>
            </a:r>
            <a:endParaRPr lang="ar-SA" sz="4500" dirty="0"/>
          </a:p>
        </p:txBody>
      </p:sp>
      <p:sp>
        <p:nvSpPr>
          <p:cNvPr id="9" name="Text 4"/>
          <p:cNvSpPr txBox="1"/>
          <p:nvPr/>
        </p:nvSpPr>
        <p:spPr>
          <a:xfrm>
            <a:off x="685800" y="11620500"/>
            <a:ext cx="58293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2100" dirty="0">
                <a:solidFill>
                  <a:srgbClr val="101820">
                    <a:alpha val="75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Suites in the heart of Makkah</a:t>
            </a:r>
            <a:endParaRPr lang="en-US" sz="2100" dirty="0"/>
          </a:p>
        </p:txBody>
      </p:sp>
      <p:pic>
        <p:nvPicPr>
          <p:cNvPr id="10" name="Image 3" descr="strip14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6453" y="15017115"/>
            <a:ext cx="9574094" cy="661035"/>
          </a:xfrm>
          <a:prstGeom prst="rect">
            <a:avLst/>
          </a:prstGeom>
        </p:spPr>
      </p:pic>
      <p:sp>
        <p:nvSpPr>
          <p:cNvPr id="11" name="Shape 5"/>
          <p:cNvSpPr/>
          <p:nvPr/>
        </p:nvSpPr>
        <p:spPr>
          <a:xfrm>
            <a:off x="6743700" y="11487150"/>
            <a:ext cx="2857500" cy="609600"/>
          </a:xfrm>
          <a:prstGeom prst="rect">
            <a:avLst/>
          </a:prstGeom>
          <a:solidFill>
            <a:srgbClr val="E1B87F"/>
          </a:solidFill>
          <a:ln w="12700">
            <a:solidFill>
              <a:srgbClr val="E1B87F"/>
            </a:solidFill>
            <a:prstDash val="solid"/>
          </a:ln>
        </p:spPr>
      </p:sp>
      <p:sp>
        <p:nvSpPr>
          <p:cNvPr id="12" name="Text 6"/>
          <p:cNvSpPr txBox="1"/>
          <p:nvPr/>
        </p:nvSpPr>
        <p:spPr>
          <a:xfrm>
            <a:off x="6743700" y="11658600"/>
            <a:ext cx="28575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altLang="en-US" sz="1650" b="1" dirty="0">
                <a:solidFill>
                  <a:srgbClr val="10182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www.deafah.com</a:t>
            </a:r>
            <a:endParaRPr lang="en-US" sz="1650" dirty="0"/>
          </a:p>
        </p:txBody>
      </p:sp>
      <p:sp>
        <p:nvSpPr>
          <p:cNvPr id="13" name="Shape 7"/>
          <p:cNvSpPr/>
          <p:nvPr/>
        </p:nvSpPr>
        <p:spPr>
          <a:xfrm>
            <a:off x="685800" y="12439650"/>
            <a:ext cx="8915400" cy="9525"/>
          </a:xfrm>
          <a:prstGeom prst="rect">
            <a:avLst/>
          </a:prstGeom>
          <a:solidFill>
            <a:srgbClr val="B6ADA5"/>
          </a:solidFill>
          <a:ln w="12700">
            <a:solidFill>
              <a:srgbClr val="B6ADA5"/>
            </a:solidFill>
            <a:prstDash val="solid"/>
          </a:ln>
        </p:spPr>
      </p:sp>
      <p:sp>
        <p:nvSpPr>
          <p:cNvPr id="14" name="Shape 8"/>
          <p:cNvSpPr/>
          <p:nvPr/>
        </p:nvSpPr>
        <p:spPr>
          <a:xfrm>
            <a:off x="7486650" y="12744450"/>
            <a:ext cx="2114550" cy="609600"/>
          </a:xfrm>
          <a:prstGeom prst="rect">
            <a:avLst/>
          </a:prstGeom>
          <a:ln w="19050">
            <a:solidFill>
              <a:srgbClr val="E1B87F"/>
            </a:solidFill>
            <a:prstDash val="solid"/>
          </a:ln>
        </p:spPr>
      </p:sp>
      <p:sp>
        <p:nvSpPr>
          <p:cNvPr id="15" name="Text 9"/>
          <p:cNvSpPr txBox="1"/>
          <p:nvPr/>
        </p:nvSpPr>
        <p:spPr>
          <a:xfrm>
            <a:off x="7486650" y="1289685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عمرة</a:t>
            </a:r>
            <a:endParaRPr lang="ar-SA" sz="1800" dirty="0"/>
          </a:p>
        </p:txBody>
      </p:sp>
      <p:sp>
        <p:nvSpPr>
          <p:cNvPr id="16" name="Shape 10"/>
          <p:cNvSpPr/>
          <p:nvPr/>
        </p:nvSpPr>
        <p:spPr>
          <a:xfrm>
            <a:off x="5219700" y="12744450"/>
            <a:ext cx="2114550" cy="609600"/>
          </a:xfrm>
          <a:prstGeom prst="rect">
            <a:avLst/>
          </a:prstGeom>
          <a:ln w="19050">
            <a:solidFill>
              <a:srgbClr val="E1B87F"/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5219700" y="1289685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نقل</a:t>
            </a:r>
            <a:endParaRPr lang="ar-SA" sz="1800" dirty="0"/>
          </a:p>
        </p:txBody>
      </p:sp>
      <p:sp>
        <p:nvSpPr>
          <p:cNvPr id="18" name="Shape 12"/>
          <p:cNvSpPr/>
          <p:nvPr/>
        </p:nvSpPr>
        <p:spPr>
          <a:xfrm>
            <a:off x="2952750" y="12744450"/>
            <a:ext cx="2114550" cy="609600"/>
          </a:xfrm>
          <a:prstGeom prst="rect">
            <a:avLst/>
          </a:prstGeom>
          <a:ln w="19050">
            <a:solidFill>
              <a:srgbClr val="E1B87F"/>
            </a:solidFill>
            <a:prstDash val="solid"/>
          </a:ln>
        </p:spPr>
      </p:sp>
      <p:sp>
        <p:nvSpPr>
          <p:cNvPr id="19" name="Text 13"/>
          <p:cNvSpPr txBox="1"/>
          <p:nvPr/>
        </p:nvSpPr>
        <p:spPr>
          <a:xfrm>
            <a:off x="2952750" y="1289685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فنادق</a:t>
            </a:r>
            <a:endParaRPr lang="ar-SA" sz="1800" dirty="0"/>
          </a:p>
        </p:txBody>
      </p:sp>
      <p:sp>
        <p:nvSpPr>
          <p:cNvPr id="20" name="Shape 14"/>
          <p:cNvSpPr/>
          <p:nvPr/>
        </p:nvSpPr>
        <p:spPr>
          <a:xfrm>
            <a:off x="685800" y="12744450"/>
            <a:ext cx="2114550" cy="609600"/>
          </a:xfrm>
          <a:prstGeom prst="rect">
            <a:avLst/>
          </a:prstGeom>
          <a:ln w="19050">
            <a:solidFill>
              <a:srgbClr val="E1B87F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685800" y="1289685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إعاشة</a:t>
            </a:r>
            <a:endParaRPr lang="ar-SA" sz="1800" dirty="0"/>
          </a:p>
        </p:txBody>
      </p:sp>
      <p:sp>
        <p:nvSpPr>
          <p:cNvPr id="22" name="Text 16"/>
          <p:cNvSpPr txBox="1"/>
          <p:nvPr/>
        </p:nvSpPr>
        <p:spPr>
          <a:xfrm>
            <a:off x="685800" y="14540865"/>
            <a:ext cx="8915400" cy="2143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1125" dirty="0">
                <a:solidFill>
                  <a:srgbClr val="101820">
                    <a:alpha val="60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Al Deafah International Group  ·  Umrah  ·  Transportation  ·  Hotels  ·  Catering</a:t>
            </a:r>
            <a:endParaRPr lang="en-US" sz="1125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287000" cy="18288000"/>
          </a:xfrm>
          <a:prstGeom prst="rect">
            <a:avLst/>
          </a:prstGeom>
          <a:solidFill>
            <a:srgbClr val="C10016"/>
          </a:solidFill>
          <a:ln w="12700">
            <a:solidFill>
              <a:srgbClr val="C10016"/>
            </a:solidFill>
            <a:prstDash val="solid"/>
          </a:ln>
        </p:spPr>
      </p:sp>
      <p:pic>
        <p:nvPicPr>
          <p:cNvPr id="3" name="Image 0" descr="AlDeafah-International-Group-NEG-CMY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54551" y="3067050"/>
            <a:ext cx="2577899" cy="2095500"/>
          </a:xfrm>
          <a:prstGeom prst="rect">
            <a:avLst/>
          </a:prstGeom>
        </p:spPr>
      </p:pic>
      <p:pic>
        <p:nvPicPr>
          <p:cNvPr id="4" name="Image 1" descr="field5x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1743" y="5619750"/>
            <a:ext cx="3403515" cy="1346655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685800" y="7499805"/>
            <a:ext cx="8915400" cy="1314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15000"/>
              </a:lnSpc>
              <a:buNone/>
            </a:pPr>
            <a:r>
              <a:rPr lang="ar-SA" altLang="en-US" sz="7200" b="1" dirty="0">
                <a:solidFill>
                  <a:srgbClr val="E1B87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رمضان مبارك</a:t>
            </a:r>
            <a:endParaRPr lang="ar-SA" sz="7200" dirty="0"/>
          </a:p>
        </p:txBody>
      </p:sp>
      <p:sp>
        <p:nvSpPr>
          <p:cNvPr id="6" name="Text 2"/>
          <p:cNvSpPr txBox="1"/>
          <p:nvPr/>
        </p:nvSpPr>
        <p:spPr>
          <a:xfrm>
            <a:off x="685800" y="8741865"/>
            <a:ext cx="89154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altLang="en-US" sz="2250" spc="300" kern="0" dirty="0">
                <a:solidFill>
                  <a:srgbClr val="FFFFF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Ramadan Mubarak</a:t>
            </a:r>
            <a:endParaRPr lang="en-US" sz="2250" dirty="0"/>
          </a:p>
        </p:txBody>
      </p:sp>
      <p:sp>
        <p:nvSpPr>
          <p:cNvPr id="7" name="Text 3"/>
          <p:cNvSpPr txBox="1"/>
          <p:nvPr/>
        </p:nvSpPr>
        <p:spPr>
          <a:xfrm>
            <a:off x="685800" y="9365752"/>
            <a:ext cx="8915400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950" dirty="0">
                <a:solidFill>
                  <a:srgbClr val="FFFFFF">
                    <a:alpha val="80000"/>
                  </a:srgbClr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تتمنّى لكم مجموعة الضيافة العالمية شهراً مباركاً</a:t>
            </a:r>
            <a:endParaRPr lang="ar-SA" sz="1950" dirty="0"/>
          </a:p>
        </p:txBody>
      </p:sp>
      <p:pic>
        <p:nvPicPr>
          <p:cNvPr id="8" name="Image 2" descr="strip1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53" y="15017115"/>
            <a:ext cx="9574094" cy="66103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287000" cy="18288000"/>
          </a:xfrm>
          <a:prstGeom prst="rect">
            <a:avLst/>
          </a:prstGeom>
          <a:solidFill>
            <a:srgbClr val="F5F2EE"/>
          </a:solidFill>
          <a:ln w="12700">
            <a:solidFill>
              <a:srgbClr val="F5F2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85800" y="3067050"/>
            <a:ext cx="89154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255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قائمة ما قبل النشر — احذف هذه الصفحة قبل التصدير</a:t>
            </a:r>
            <a:endParaRPr lang="ar-SA" sz="2550" dirty="0"/>
          </a:p>
        </p:txBody>
      </p:sp>
      <p:sp>
        <p:nvSpPr>
          <p:cNvPr id="4" name="Shape 2"/>
          <p:cNvSpPr/>
          <p:nvPr/>
        </p:nvSpPr>
        <p:spPr>
          <a:xfrm>
            <a:off x="8458200" y="3733800"/>
            <a:ext cx="1143000" cy="38100"/>
          </a:xfrm>
          <a:prstGeom prst="rect">
            <a:avLst/>
          </a:prstGeom>
          <a:solidFill>
            <a:srgbClr val="8E732A"/>
          </a:solidFill>
          <a:ln w="12700">
            <a:solidFill>
              <a:srgbClr val="8E732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4076700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الشعار من Brand Kit أو المجلد 01 فقط؛ بلا تمدد أو تدوير أو ظل أو تغيير لون.</a:t>
            </a:r>
            <a:endParaRPr lang="ar-SA" sz="165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4474845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مسافة آمنة حول الشعار ≥ 0.42 × ارتفاع الرمز، وبعيد عن الحواف بالقدر نفسه.</a:t>
            </a:r>
            <a:endParaRPr lang="ar-SA" sz="165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4872990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الحد الأدنى: الرأسي 120 بكسل عرضاً، الأفقي 200، الرمز وحده 40.</a:t>
            </a:r>
            <a:endParaRPr lang="ar-SA" sz="165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5271135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النقشة: بلوكات كاملة فقط (لا قصّ)، أقلها 2×2، لا تلامس الحافة.</a:t>
            </a:r>
            <a:endParaRPr lang="ar-SA" sz="165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5669280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الخط العربي Almarai فقط؛ اللاتيني كما في القالب. لا خط ثالث.</a:t>
            </a:r>
            <a:endParaRPr lang="ar-SA" sz="165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6067425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الألوان من Brand Kit فقط؛ لا أصفر/رمادي/أخضر/بيج كنص على أبيض.</a:t>
            </a:r>
            <a:endParaRPr lang="ar-SA" sz="165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6465570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لا آيات، لا أسماء الله، لا صور للكعبة أو الحرم كزخرفة.</a:t>
            </a:r>
            <a:endParaRPr lang="ar-SA" sz="165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6863715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النص العربي RTL، الأرقام والهواتف LTR داخل السطر.</a:t>
            </a:r>
            <a:endParaRPr lang="ar-SA" sz="1650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7261860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أي نص فوق صورة يحتاج تدرجاً أسود تحته (موجود في صفحة العقار).</a:t>
            </a:r>
            <a:endParaRPr lang="ar-SA" sz="1650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7660005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احذف هذه الصفحة قبل التصدير. التصدير: PNG للسوشيال.</a:t>
            </a:r>
            <a:endParaRPr lang="ar-SA" sz="16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ADIG_Social_Story_Red_Light</dc:title>
  <dc:subject>PptxGenJS Presentation</dc:subject>
  <dc:creator>PptxGenJS</dc:creator>
  <cp:lastModifiedBy>PptxGenJS</cp:lastModifiedBy>
  <cp:revision>1</cp:revision>
  <dcterms:created xsi:type="dcterms:W3CDTF">2026-10-14T21:28:57Z</dcterms:created>
  <dcterms:modified xsi:type="dcterms:W3CDTF">2026-10-14T21:28:57Z</dcterms:modified>
</cp:coreProperties>
</file>