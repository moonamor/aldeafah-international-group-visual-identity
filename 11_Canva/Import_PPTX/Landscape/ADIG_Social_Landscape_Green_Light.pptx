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1430000" cy="5981700"/>
  <p:notesSz cx="5981700" cy="11430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1430000" cy="59817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762500" y="0"/>
            <a:ext cx="6667500" cy="5981700"/>
          </a:xfrm>
          <a:prstGeom prst="rect">
            <a:avLst/>
          </a:prstGeom>
          <a:solidFill>
            <a:srgbClr val="13322B"/>
          </a:solidFill>
          <a:ln w="12700">
            <a:solidFill>
              <a:srgbClr val="13322B"/>
            </a:solidFill>
            <a:prstDash val="solid"/>
          </a:ln>
        </p:spPr>
      </p:sp>
      <p:pic>
        <p:nvPicPr>
          <p:cNvPr id="4" name="Image 0" descr="colL1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91100" y="228600"/>
            <a:ext cx="892595" cy="5437050"/>
          </a:xfrm>
          <a:prstGeom prst="rect">
            <a:avLst/>
          </a:prstGeom>
        </p:spPr>
      </p:pic>
      <p:pic>
        <p:nvPicPr>
          <p:cNvPr id="5" name="Image 1" descr="AlDeafah-International-Group-Left_NEG_CMY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15300" y="381000"/>
            <a:ext cx="2857500" cy="810371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6191250" y="1458071"/>
            <a:ext cx="47815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350" b="1" spc="100" kern="0" dirty="0">
                <a:solidFill>
                  <a:srgbClr val="8DAE81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إعلان  ·  ANNOUNCEMENT</a:t>
            </a:r>
            <a:endParaRPr lang="ar-SA" sz="1350" dirty="0"/>
          </a:p>
        </p:txBody>
      </p:sp>
      <p:sp>
        <p:nvSpPr>
          <p:cNvPr id="7" name="Text 3"/>
          <p:cNvSpPr txBox="1"/>
          <p:nvPr/>
        </p:nvSpPr>
        <p:spPr>
          <a:xfrm>
            <a:off x="6191250" y="1839071"/>
            <a:ext cx="4781550" cy="7393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405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انطلاق موسم العمرة</a:t>
            </a:r>
            <a:endParaRPr lang="ar-SA" sz="4050" dirty="0"/>
          </a:p>
        </p:txBody>
      </p:sp>
      <p:sp>
        <p:nvSpPr>
          <p:cNvPr id="8" name="Text 4"/>
          <p:cNvSpPr txBox="1"/>
          <p:nvPr/>
        </p:nvSpPr>
        <p:spPr>
          <a:xfrm>
            <a:off x="6191250" y="2525823"/>
            <a:ext cx="4781550" cy="547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3000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لعام ١٤٤٨ هـ</a:t>
            </a:r>
            <a:endParaRPr lang="ar-SA" sz="3000" dirty="0"/>
          </a:p>
        </p:txBody>
      </p:sp>
      <p:sp>
        <p:nvSpPr>
          <p:cNvPr id="9" name="Shape 5"/>
          <p:cNvSpPr/>
          <p:nvPr/>
        </p:nvSpPr>
        <p:spPr>
          <a:xfrm>
            <a:off x="10020300" y="3154473"/>
            <a:ext cx="952500" cy="38100"/>
          </a:xfrm>
          <a:prstGeom prst="rect">
            <a:avLst/>
          </a:prstGeom>
          <a:solidFill>
            <a:srgbClr val="8DAE81"/>
          </a:solidFill>
          <a:ln w="12700">
            <a:solidFill>
              <a:srgbClr val="8DAE81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457200" y="571500"/>
            <a:ext cx="38481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1650" dirty="0">
                <a:solidFill>
                  <a:srgbClr val="101820">
                    <a:alpha val="75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Umrah season 1448 — bookings now open</a:t>
            </a:r>
            <a:endParaRPr lang="en-US" sz="1650" dirty="0"/>
          </a:p>
        </p:txBody>
      </p:sp>
      <p:sp>
        <p:nvSpPr>
          <p:cNvPr id="11" name="Shape 7"/>
          <p:cNvSpPr/>
          <p:nvPr/>
        </p:nvSpPr>
        <p:spPr>
          <a:xfrm>
            <a:off x="457200" y="1047750"/>
            <a:ext cx="2286000" cy="514350"/>
          </a:xfrm>
          <a:prstGeom prst="rect">
            <a:avLst/>
          </a:prstGeom>
          <a:solidFill>
            <a:srgbClr val="8DAE81"/>
          </a:solidFill>
          <a:ln w="12700">
            <a:solidFill>
              <a:srgbClr val="8DAE81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457200" y="1181100"/>
            <a:ext cx="2286000" cy="2714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altLang="en-US" sz="1425" b="1" dirty="0">
                <a:solidFill>
                  <a:srgbClr val="1018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www.deafah.com</a:t>
            </a:r>
            <a:endParaRPr lang="en-US" sz="1425" dirty="0"/>
          </a:p>
        </p:txBody>
      </p:sp>
      <p:sp>
        <p:nvSpPr>
          <p:cNvPr id="13" name="Shape 9"/>
          <p:cNvSpPr/>
          <p:nvPr/>
        </p:nvSpPr>
        <p:spPr>
          <a:xfrm>
            <a:off x="2438400" y="1905000"/>
            <a:ext cx="1866900" cy="514350"/>
          </a:xfrm>
          <a:prstGeom prst="rect">
            <a:avLst/>
          </a:prstGeom>
          <a:ln w="19050">
            <a:solidFill>
              <a:srgbClr val="8DAE81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2438400" y="202882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عمرة</a:t>
            </a:r>
            <a:endParaRPr lang="ar-SA" sz="1500" dirty="0"/>
          </a:p>
        </p:txBody>
      </p:sp>
      <p:sp>
        <p:nvSpPr>
          <p:cNvPr id="15" name="Shape 11"/>
          <p:cNvSpPr/>
          <p:nvPr/>
        </p:nvSpPr>
        <p:spPr>
          <a:xfrm>
            <a:off x="457200" y="1905000"/>
            <a:ext cx="1866900" cy="514350"/>
          </a:xfrm>
          <a:prstGeom prst="rect">
            <a:avLst/>
          </a:prstGeom>
          <a:ln w="19050">
            <a:solidFill>
              <a:srgbClr val="8DAE81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57200" y="202882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نقل</a:t>
            </a:r>
            <a:endParaRPr lang="ar-SA" sz="1500" dirty="0"/>
          </a:p>
        </p:txBody>
      </p:sp>
      <p:sp>
        <p:nvSpPr>
          <p:cNvPr id="17" name="Shape 13"/>
          <p:cNvSpPr/>
          <p:nvPr/>
        </p:nvSpPr>
        <p:spPr>
          <a:xfrm>
            <a:off x="2438400" y="2533650"/>
            <a:ext cx="1866900" cy="514350"/>
          </a:xfrm>
          <a:prstGeom prst="rect">
            <a:avLst/>
          </a:prstGeom>
          <a:ln w="19050">
            <a:solidFill>
              <a:srgbClr val="8DAE81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2438400" y="265747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فنادق</a:t>
            </a:r>
            <a:endParaRPr lang="ar-SA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2533650"/>
            <a:ext cx="1866900" cy="514350"/>
          </a:xfrm>
          <a:prstGeom prst="rect">
            <a:avLst/>
          </a:prstGeom>
          <a:ln w="19050">
            <a:solidFill>
              <a:srgbClr val="8DAE81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457200" y="265747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إعاشة</a:t>
            </a:r>
            <a:endParaRPr lang="ar-SA" sz="1500" dirty="0"/>
          </a:p>
        </p:txBody>
      </p:sp>
      <p:sp>
        <p:nvSpPr>
          <p:cNvPr id="21" name="Text 17"/>
          <p:cNvSpPr txBox="1"/>
          <p:nvPr/>
        </p:nvSpPr>
        <p:spPr>
          <a:xfrm>
            <a:off x="457200" y="3390900"/>
            <a:ext cx="38481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900" dirty="0">
                <a:solidFill>
                  <a:srgbClr val="101820">
                    <a:alpha val="60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Al Deafah International Group · Umrah · Transportation · Hotels · Catering</a:t>
            </a:r>
            <a:endParaRPr lang="en-US" sz="900" dirty="0"/>
          </a:p>
        </p:txBody>
      </p:sp>
      <p:pic>
        <p:nvPicPr>
          <p:cNvPr id="22" name="Image 2" descr="stripL8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314950"/>
            <a:ext cx="3619268" cy="43815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1430000" cy="59817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762500" y="0"/>
            <a:ext cx="6667500" cy="5981700"/>
          </a:xfrm>
          <a:prstGeom prst="rect">
            <a:avLst/>
          </a:prstGeom>
          <a:solidFill>
            <a:srgbClr val="13322B"/>
          </a:solidFill>
          <a:ln w="12700">
            <a:solidFill>
              <a:srgbClr val="13322B"/>
            </a:solidFill>
            <a:prstDash val="solid"/>
          </a:ln>
        </p:spPr>
      </p:sp>
      <p:pic>
        <p:nvPicPr>
          <p:cNvPr id="4" name="Image 0" descr="colL1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91100" y="228600"/>
            <a:ext cx="892595" cy="5437050"/>
          </a:xfrm>
          <a:prstGeom prst="rect">
            <a:avLst/>
          </a:prstGeom>
        </p:spPr>
      </p:pic>
      <p:pic>
        <p:nvPicPr>
          <p:cNvPr id="5" name="Image 1" descr="AlDeafah-International-Group-Left_NEG_CMY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15300" y="381000"/>
            <a:ext cx="2857500" cy="810371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6191250" y="1458071"/>
            <a:ext cx="47815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350" b="1" spc="100" kern="0" dirty="0">
                <a:solidFill>
                  <a:srgbClr val="8DAE81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عرض خاص  ·  SPECIAL OFFER</a:t>
            </a:r>
            <a:endParaRPr lang="ar-SA" sz="1350" dirty="0"/>
          </a:p>
        </p:txBody>
      </p:sp>
      <p:sp>
        <p:nvSpPr>
          <p:cNvPr id="7" name="Text 3"/>
          <p:cNvSpPr txBox="1"/>
          <p:nvPr/>
        </p:nvSpPr>
        <p:spPr>
          <a:xfrm>
            <a:off x="6191250" y="1800971"/>
            <a:ext cx="47815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ar-SA" altLang="en-US" sz="9000" b="1" dirty="0">
                <a:solidFill>
                  <a:srgbClr val="8DAE81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٢٠٪</a:t>
            </a:r>
            <a:endParaRPr lang="ar-SA" sz="9000" dirty="0"/>
          </a:p>
        </p:txBody>
      </p:sp>
      <p:sp>
        <p:nvSpPr>
          <p:cNvPr id="8" name="Text 4"/>
          <p:cNvSpPr txBox="1"/>
          <p:nvPr/>
        </p:nvSpPr>
        <p:spPr>
          <a:xfrm>
            <a:off x="6191250" y="3001121"/>
            <a:ext cx="4781550" cy="547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30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خصم على باقات الإقامة</a:t>
            </a:r>
            <a:endParaRPr lang="ar-SA" sz="3000" dirty="0"/>
          </a:p>
        </p:txBody>
      </p:sp>
      <p:sp>
        <p:nvSpPr>
          <p:cNvPr id="9" name="Text 5"/>
          <p:cNvSpPr txBox="1"/>
          <p:nvPr/>
        </p:nvSpPr>
        <p:spPr>
          <a:xfrm>
            <a:off x="6191250" y="3534521"/>
            <a:ext cx="4781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200" dirty="0">
                <a:solidFill>
                  <a:srgbClr val="FFFFFF">
                    <a:alpha val="75000"/>
                  </a:srgbClr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العرض ساري حتى ٣٠ شعبان  ·  تطبّق الشروط والأحكام</a:t>
            </a:r>
            <a:endParaRPr lang="ar-SA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571500"/>
            <a:ext cx="38481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1650" dirty="0">
                <a:solidFill>
                  <a:srgbClr val="101820">
                    <a:alpha val="75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20% off accommodation packages</a:t>
            </a:r>
            <a:endParaRPr lang="en-US" sz="1650" dirty="0"/>
          </a:p>
        </p:txBody>
      </p:sp>
      <p:sp>
        <p:nvSpPr>
          <p:cNvPr id="11" name="Shape 7"/>
          <p:cNvSpPr/>
          <p:nvPr/>
        </p:nvSpPr>
        <p:spPr>
          <a:xfrm>
            <a:off x="457200" y="1047750"/>
            <a:ext cx="2286000" cy="514350"/>
          </a:xfrm>
          <a:prstGeom prst="rect">
            <a:avLst/>
          </a:prstGeom>
          <a:solidFill>
            <a:srgbClr val="8DAE81"/>
          </a:solidFill>
          <a:ln w="12700">
            <a:solidFill>
              <a:srgbClr val="8DAE81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457200" y="1181100"/>
            <a:ext cx="2286000" cy="2714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altLang="en-US" sz="1425" b="1" dirty="0">
                <a:solidFill>
                  <a:srgbClr val="1018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www.deafah.com</a:t>
            </a:r>
            <a:endParaRPr lang="en-US" sz="1425" dirty="0"/>
          </a:p>
        </p:txBody>
      </p:sp>
      <p:sp>
        <p:nvSpPr>
          <p:cNvPr id="13" name="Shape 9"/>
          <p:cNvSpPr/>
          <p:nvPr/>
        </p:nvSpPr>
        <p:spPr>
          <a:xfrm>
            <a:off x="2438400" y="1905000"/>
            <a:ext cx="1866900" cy="514350"/>
          </a:xfrm>
          <a:prstGeom prst="rect">
            <a:avLst/>
          </a:prstGeom>
          <a:ln w="19050">
            <a:solidFill>
              <a:srgbClr val="8DAE81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2438400" y="202882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عمرة</a:t>
            </a:r>
            <a:endParaRPr lang="ar-SA" sz="1500" dirty="0"/>
          </a:p>
        </p:txBody>
      </p:sp>
      <p:sp>
        <p:nvSpPr>
          <p:cNvPr id="15" name="Shape 11"/>
          <p:cNvSpPr/>
          <p:nvPr/>
        </p:nvSpPr>
        <p:spPr>
          <a:xfrm>
            <a:off x="457200" y="1905000"/>
            <a:ext cx="1866900" cy="514350"/>
          </a:xfrm>
          <a:prstGeom prst="rect">
            <a:avLst/>
          </a:prstGeom>
          <a:ln w="19050">
            <a:solidFill>
              <a:srgbClr val="8DAE81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57200" y="202882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نقل</a:t>
            </a:r>
            <a:endParaRPr lang="ar-SA" sz="1500" dirty="0"/>
          </a:p>
        </p:txBody>
      </p:sp>
      <p:sp>
        <p:nvSpPr>
          <p:cNvPr id="17" name="Shape 13"/>
          <p:cNvSpPr/>
          <p:nvPr/>
        </p:nvSpPr>
        <p:spPr>
          <a:xfrm>
            <a:off x="2438400" y="2533650"/>
            <a:ext cx="1866900" cy="514350"/>
          </a:xfrm>
          <a:prstGeom prst="rect">
            <a:avLst/>
          </a:prstGeom>
          <a:ln w="19050">
            <a:solidFill>
              <a:srgbClr val="8DAE81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2438400" y="265747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فنادق</a:t>
            </a:r>
            <a:endParaRPr lang="ar-SA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2533650"/>
            <a:ext cx="1866900" cy="514350"/>
          </a:xfrm>
          <a:prstGeom prst="rect">
            <a:avLst/>
          </a:prstGeom>
          <a:ln w="19050">
            <a:solidFill>
              <a:srgbClr val="8DAE81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457200" y="265747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إعاشة</a:t>
            </a:r>
            <a:endParaRPr lang="ar-SA" sz="1500" dirty="0"/>
          </a:p>
        </p:txBody>
      </p:sp>
      <p:sp>
        <p:nvSpPr>
          <p:cNvPr id="21" name="Text 17"/>
          <p:cNvSpPr txBox="1"/>
          <p:nvPr/>
        </p:nvSpPr>
        <p:spPr>
          <a:xfrm>
            <a:off x="457200" y="3390900"/>
            <a:ext cx="38481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900" dirty="0">
                <a:solidFill>
                  <a:srgbClr val="101820">
                    <a:alpha val="60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Al Deafah International Group · Umrah · Transportation · Hotels · Catering</a:t>
            </a:r>
            <a:endParaRPr lang="en-US" sz="900" dirty="0"/>
          </a:p>
        </p:txBody>
      </p:sp>
      <p:pic>
        <p:nvPicPr>
          <p:cNvPr id="22" name="Image 2" descr="stripL8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314950"/>
            <a:ext cx="3619268" cy="43815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1430000" cy="59817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hoto_700x62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29150" y="-133350"/>
            <a:ext cx="6934200" cy="6248400"/>
          </a:xfrm>
          <a:prstGeom prst="rect">
            <a:avLst/>
          </a:prstGeom>
        </p:spPr>
      </p:pic>
      <p:pic>
        <p:nvPicPr>
          <p:cNvPr id="4" name="Image 1" descr="gradh_700x628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9150" y="-133350"/>
            <a:ext cx="6934200" cy="6248400"/>
          </a:xfrm>
          <a:prstGeom prst="rect">
            <a:avLst/>
          </a:prstGeom>
        </p:spPr>
      </p:pic>
      <p:pic>
        <p:nvPicPr>
          <p:cNvPr id="5" name="Image 2" descr="AlDeafah-International-Group-Left_NEG_CMY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15300" y="381000"/>
            <a:ext cx="2857500" cy="810371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6191250" y="1458071"/>
            <a:ext cx="47815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350" b="1" spc="100" kern="0" dirty="0">
                <a:solidFill>
                  <a:srgbClr val="8DAE81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عقاراتنا  ·  OUR PROPERTIES</a:t>
            </a:r>
            <a:endParaRPr lang="ar-SA" sz="1350" dirty="0"/>
          </a:p>
        </p:txBody>
      </p:sp>
      <p:sp>
        <p:nvSpPr>
          <p:cNvPr id="7" name="Text 2"/>
          <p:cNvSpPr txBox="1"/>
          <p:nvPr/>
        </p:nvSpPr>
        <p:spPr>
          <a:xfrm>
            <a:off x="6191250" y="1839071"/>
            <a:ext cx="4781550" cy="7393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405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إطلالة على الحرم</a:t>
            </a:r>
            <a:endParaRPr lang="ar-SA" sz="4050" dirty="0"/>
          </a:p>
        </p:txBody>
      </p:sp>
      <p:sp>
        <p:nvSpPr>
          <p:cNvPr id="8" name="Text 3"/>
          <p:cNvSpPr txBox="1"/>
          <p:nvPr/>
        </p:nvSpPr>
        <p:spPr>
          <a:xfrm>
            <a:off x="6191250" y="2525823"/>
            <a:ext cx="4781550" cy="547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3000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أجنحة في قلب مكة المكرمة</a:t>
            </a:r>
            <a:endParaRPr lang="ar-SA" sz="3000" dirty="0"/>
          </a:p>
        </p:txBody>
      </p:sp>
      <p:sp>
        <p:nvSpPr>
          <p:cNvPr id="9" name="Shape 4"/>
          <p:cNvSpPr/>
          <p:nvPr/>
        </p:nvSpPr>
        <p:spPr>
          <a:xfrm>
            <a:off x="10020300" y="3154473"/>
            <a:ext cx="952500" cy="38100"/>
          </a:xfrm>
          <a:prstGeom prst="rect">
            <a:avLst/>
          </a:prstGeom>
          <a:solidFill>
            <a:srgbClr val="8DAE81"/>
          </a:solidFill>
          <a:ln w="12700">
            <a:solidFill>
              <a:srgbClr val="8DAE81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457200" y="571500"/>
            <a:ext cx="38481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1650" dirty="0">
                <a:solidFill>
                  <a:srgbClr val="101820">
                    <a:alpha val="75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Suites in the heart of Makkah</a:t>
            </a:r>
            <a:endParaRPr lang="en-US" sz="1650" dirty="0"/>
          </a:p>
        </p:txBody>
      </p:sp>
      <p:sp>
        <p:nvSpPr>
          <p:cNvPr id="11" name="Shape 6"/>
          <p:cNvSpPr/>
          <p:nvPr/>
        </p:nvSpPr>
        <p:spPr>
          <a:xfrm>
            <a:off x="457200" y="1047750"/>
            <a:ext cx="2286000" cy="514350"/>
          </a:xfrm>
          <a:prstGeom prst="rect">
            <a:avLst/>
          </a:prstGeom>
          <a:solidFill>
            <a:srgbClr val="8DAE81"/>
          </a:solidFill>
          <a:ln w="12700">
            <a:solidFill>
              <a:srgbClr val="8DAE81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457200" y="1181100"/>
            <a:ext cx="2286000" cy="2714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altLang="en-US" sz="1425" b="1" dirty="0">
                <a:solidFill>
                  <a:srgbClr val="1018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www.deafah.com</a:t>
            </a:r>
            <a:endParaRPr lang="en-US" sz="1425" dirty="0"/>
          </a:p>
        </p:txBody>
      </p:sp>
      <p:sp>
        <p:nvSpPr>
          <p:cNvPr id="13" name="Shape 8"/>
          <p:cNvSpPr/>
          <p:nvPr/>
        </p:nvSpPr>
        <p:spPr>
          <a:xfrm>
            <a:off x="2438400" y="1905000"/>
            <a:ext cx="1866900" cy="514350"/>
          </a:xfrm>
          <a:prstGeom prst="rect">
            <a:avLst/>
          </a:prstGeom>
          <a:ln w="19050">
            <a:solidFill>
              <a:srgbClr val="8DAE81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2438400" y="202882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عمرة</a:t>
            </a:r>
            <a:endParaRPr lang="ar-SA" sz="1500" dirty="0"/>
          </a:p>
        </p:txBody>
      </p:sp>
      <p:sp>
        <p:nvSpPr>
          <p:cNvPr id="15" name="Shape 10"/>
          <p:cNvSpPr/>
          <p:nvPr/>
        </p:nvSpPr>
        <p:spPr>
          <a:xfrm>
            <a:off x="457200" y="1905000"/>
            <a:ext cx="1866900" cy="514350"/>
          </a:xfrm>
          <a:prstGeom prst="rect">
            <a:avLst/>
          </a:prstGeom>
          <a:ln w="19050">
            <a:solidFill>
              <a:srgbClr val="8DAE81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457200" y="202882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نقل</a:t>
            </a:r>
            <a:endParaRPr lang="ar-SA" sz="1500" dirty="0"/>
          </a:p>
        </p:txBody>
      </p:sp>
      <p:sp>
        <p:nvSpPr>
          <p:cNvPr id="17" name="Shape 12"/>
          <p:cNvSpPr/>
          <p:nvPr/>
        </p:nvSpPr>
        <p:spPr>
          <a:xfrm>
            <a:off x="2438400" y="2533650"/>
            <a:ext cx="1866900" cy="514350"/>
          </a:xfrm>
          <a:prstGeom prst="rect">
            <a:avLst/>
          </a:prstGeom>
          <a:ln w="19050">
            <a:solidFill>
              <a:srgbClr val="8DAE81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2438400" y="265747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فنادق</a:t>
            </a:r>
            <a:endParaRPr lang="ar-SA" sz="1500" dirty="0"/>
          </a:p>
        </p:txBody>
      </p:sp>
      <p:sp>
        <p:nvSpPr>
          <p:cNvPr id="19" name="Shape 14"/>
          <p:cNvSpPr/>
          <p:nvPr/>
        </p:nvSpPr>
        <p:spPr>
          <a:xfrm>
            <a:off x="457200" y="2533650"/>
            <a:ext cx="1866900" cy="514350"/>
          </a:xfrm>
          <a:prstGeom prst="rect">
            <a:avLst/>
          </a:prstGeom>
          <a:ln w="19050">
            <a:solidFill>
              <a:srgbClr val="8DAE81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457200" y="265747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إعاشة</a:t>
            </a:r>
            <a:endParaRPr lang="ar-SA" sz="1500" dirty="0"/>
          </a:p>
        </p:txBody>
      </p:sp>
      <p:sp>
        <p:nvSpPr>
          <p:cNvPr id="21" name="Text 16"/>
          <p:cNvSpPr txBox="1"/>
          <p:nvPr/>
        </p:nvSpPr>
        <p:spPr>
          <a:xfrm>
            <a:off x="457200" y="3390900"/>
            <a:ext cx="38481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900" dirty="0">
                <a:solidFill>
                  <a:srgbClr val="101820">
                    <a:alpha val="60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Al Deafah International Group · Umrah · Transportation · Hotels · Catering</a:t>
            </a:r>
            <a:endParaRPr lang="en-US" sz="900" dirty="0"/>
          </a:p>
        </p:txBody>
      </p:sp>
      <p:pic>
        <p:nvPicPr>
          <p:cNvPr id="22" name="Image 3" descr="stripL8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5314950"/>
            <a:ext cx="3619268" cy="43815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1430000" cy="5981700"/>
          </a:xfrm>
          <a:prstGeom prst="rect">
            <a:avLst/>
          </a:prstGeom>
          <a:solidFill>
            <a:srgbClr val="13322B"/>
          </a:solidFill>
          <a:ln w="12700">
            <a:solidFill>
              <a:srgbClr val="13322B"/>
            </a:solidFill>
            <a:prstDash val="solid"/>
          </a:ln>
        </p:spPr>
      </p:sp>
      <p:pic>
        <p:nvPicPr>
          <p:cNvPr id="3" name="Image 0" descr="AlDeafah-International-Group-Left_NEG_CMY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86250" y="457200"/>
            <a:ext cx="2857500" cy="810371"/>
          </a:xfrm>
          <a:prstGeom prst="rect">
            <a:avLst/>
          </a:prstGeom>
        </p:spPr>
      </p:pic>
      <p:pic>
        <p:nvPicPr>
          <p:cNvPr id="4" name="Image 1" descr="field7x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32589" y="1496171"/>
            <a:ext cx="3164823" cy="43815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457200" y="2201021"/>
            <a:ext cx="10515600" cy="942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10000"/>
              </a:lnSpc>
              <a:buNone/>
            </a:pPr>
            <a:r>
              <a:rPr lang="ar-SA" altLang="en-US" sz="5400" b="1" dirty="0">
                <a:solidFill>
                  <a:srgbClr val="8DAE81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رمضان مبارك</a:t>
            </a:r>
            <a:endParaRPr lang="ar-SA" sz="5400" dirty="0"/>
          </a:p>
        </p:txBody>
      </p:sp>
      <p:sp>
        <p:nvSpPr>
          <p:cNvPr id="6" name="Text 2"/>
          <p:cNvSpPr txBox="1"/>
          <p:nvPr/>
        </p:nvSpPr>
        <p:spPr>
          <a:xfrm>
            <a:off x="457200" y="3069701"/>
            <a:ext cx="10515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altLang="en-US" sz="1800" spc="300" kern="0" dirty="0">
                <a:solidFill>
                  <a:srgbClr val="FFFFF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Ramadan Mubarak</a:t>
            </a:r>
            <a:endParaRPr lang="en-US" sz="1800" dirty="0"/>
          </a:p>
        </p:txBody>
      </p:sp>
      <p:sp>
        <p:nvSpPr>
          <p:cNvPr id="7" name="Text 3"/>
          <p:cNvSpPr txBox="1"/>
          <p:nvPr/>
        </p:nvSpPr>
        <p:spPr>
          <a:xfrm>
            <a:off x="457200" y="3488801"/>
            <a:ext cx="105156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dirty="0">
                <a:solidFill>
                  <a:srgbClr val="FFFFFF">
                    <a:alpha val="80000"/>
                  </a:srgbClr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تتمنّى لكم مجموعة الضيافة العالمية شهراً مباركاً</a:t>
            </a:r>
            <a:endParaRPr lang="ar-SA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1430000" cy="5981700"/>
          </a:xfrm>
          <a:prstGeom prst="rect">
            <a:avLst/>
          </a:prstGeom>
          <a:solidFill>
            <a:srgbClr val="F5F2EE"/>
          </a:solidFill>
          <a:ln w="12700">
            <a:solidFill>
              <a:srgbClr val="F5F2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457200"/>
            <a:ext cx="105156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255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قائمة ما قبل النشر — احذف هذه الصفحة قبل التصدير</a:t>
            </a:r>
            <a:endParaRPr lang="ar-SA" sz="2550" dirty="0"/>
          </a:p>
        </p:txBody>
      </p:sp>
      <p:sp>
        <p:nvSpPr>
          <p:cNvPr id="4" name="Shape 2"/>
          <p:cNvSpPr/>
          <p:nvPr/>
        </p:nvSpPr>
        <p:spPr>
          <a:xfrm>
            <a:off x="9829800" y="1123950"/>
            <a:ext cx="1143000" cy="38100"/>
          </a:xfrm>
          <a:prstGeom prst="rect">
            <a:avLst/>
          </a:prstGeom>
          <a:solidFill>
            <a:srgbClr val="8E732A"/>
          </a:solidFill>
          <a:ln w="12700">
            <a:solidFill>
              <a:srgbClr val="8E732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466850"/>
            <a:ext cx="1051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2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الشعار من Brand Kit أو المجلد 01 فقط؛ بلا تمدد أو تدوير أو ظل أو تغيير لون.</a:t>
            </a:r>
            <a:endParaRPr lang="ar-SA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756410"/>
            <a:ext cx="1051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2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مسافة آمنة حول الشعار ≥ 0.42 × ارتفاع الرمز، وبعيد عن الحواف بالقدر نفسه.</a:t>
            </a:r>
            <a:endParaRPr lang="ar-SA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045970"/>
            <a:ext cx="1051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2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الحد الأدنى: الرأسي 120 بكسل عرضاً، الأفقي 200، الرمز وحده 40.</a:t>
            </a:r>
            <a:endParaRPr lang="ar-SA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335530"/>
            <a:ext cx="1051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2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النقشة: بلوكات كاملة فقط (لا قصّ)، أقلها 2×2، لا تلامس الحافة.</a:t>
            </a:r>
            <a:endParaRPr lang="ar-SA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625090"/>
            <a:ext cx="1051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2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الخط العربي Almarai فقط؛ اللاتيني كما في القالب. لا خط ثالث.</a:t>
            </a:r>
            <a:endParaRPr lang="ar-SA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2914650"/>
            <a:ext cx="1051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2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الألوان من Brand Kit فقط؛ لا أصفر/رمادي/أخضر/بيج كنص على أبيض.</a:t>
            </a:r>
            <a:endParaRPr lang="ar-SA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204210"/>
            <a:ext cx="1051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2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لا آيات، لا أسماء الله، لا صور للكعبة أو الحرم كزخرفة.</a:t>
            </a:r>
            <a:endParaRPr lang="ar-SA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3493770"/>
            <a:ext cx="1051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2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النص العربي RTL، الأرقام والهواتف LTR داخل السطر.</a:t>
            </a:r>
            <a:endParaRPr lang="ar-SA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783330"/>
            <a:ext cx="1051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2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أي نص فوق صورة يحتاج تدرجاً أسود تحته (موجود في صفحة العقار).</a:t>
            </a:r>
            <a:endParaRPr lang="ar-SA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4072890"/>
            <a:ext cx="1051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2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احذف هذه الصفحة قبل التصدير. التصدير: PNG للسوشيال.</a:t>
            </a:r>
            <a:endParaRPr lang="ar-SA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ADIG_Social_Landscape_Green_Light</dc:title>
  <dc:subject>PptxGenJS Presentation</dc:subject>
  <dc:creator>PptxGenJS</dc:creator>
  <cp:lastModifiedBy>PptxGenJS</cp:lastModifiedBy>
  <cp:revision>1</cp:revision>
  <dcterms:created xsi:type="dcterms:W3CDTF">2026-10-14T21:28:57Z</dcterms:created>
  <dcterms:modified xsi:type="dcterms:W3CDTF">2026-10-14T21:28:57Z</dcterms:modified>
</cp:coreProperties>
</file>