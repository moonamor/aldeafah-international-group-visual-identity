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0287000" cy="10287000"/>
  <p:notesSz cx="10287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287000" cy="609600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pic>
        <p:nvPicPr>
          <p:cNvPr id="4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364" y="685800"/>
            <a:ext cx="1874836" cy="1524000"/>
          </a:xfrm>
          <a:prstGeom prst="rect">
            <a:avLst/>
          </a:prstGeom>
        </p:spPr>
      </p:pic>
      <p:pic>
        <p:nvPicPr>
          <p:cNvPr id="5" name="Image 1" descr="col8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8600"/>
            <a:ext cx="1346655" cy="546037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362200" y="266700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D29F1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إعلان  ·  ANNOUNCEMENT</a:t>
            </a:r>
            <a:endParaRPr lang="ar-SA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2362200" y="3162300"/>
            <a:ext cx="7239000" cy="1040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57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انطلاق موسم العمرة</a:t>
            </a:r>
            <a:endParaRPr lang="ar-SA" sz="5700" dirty="0"/>
          </a:p>
        </p:txBody>
      </p:sp>
      <p:sp>
        <p:nvSpPr>
          <p:cNvPr id="8" name="Text 4"/>
          <p:cNvSpPr txBox="1"/>
          <p:nvPr/>
        </p:nvSpPr>
        <p:spPr>
          <a:xfrm>
            <a:off x="2362200" y="4128135"/>
            <a:ext cx="7239000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5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لعام ١٤٤٨ هـ</a:t>
            </a:r>
            <a:endParaRPr lang="ar-SA" sz="4500" dirty="0"/>
          </a:p>
        </p:txBody>
      </p:sp>
      <p:sp>
        <p:nvSpPr>
          <p:cNvPr id="9" name="Shape 5"/>
          <p:cNvSpPr/>
          <p:nvPr/>
        </p:nvSpPr>
        <p:spPr>
          <a:xfrm>
            <a:off x="8458200" y="5052060"/>
            <a:ext cx="1143000" cy="38100"/>
          </a:xfrm>
          <a:prstGeom prst="rect">
            <a:avLst/>
          </a:prstGeom>
          <a:solidFill>
            <a:srgbClr val="D29F13"/>
          </a:solidFill>
          <a:ln w="12700">
            <a:solidFill>
              <a:srgbClr val="D29F1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5800" y="676275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101820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Umrah season 1448 — bookings now open</a:t>
            </a:r>
            <a:endParaRPr lang="en-US" sz="2100" dirty="0"/>
          </a:p>
        </p:txBody>
      </p:sp>
      <p:pic>
        <p:nvPicPr>
          <p:cNvPr id="11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9397365"/>
            <a:ext cx="9574094" cy="66103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743700" y="6629400"/>
            <a:ext cx="2857500" cy="609600"/>
          </a:xfrm>
          <a:prstGeom prst="rect">
            <a:avLst/>
          </a:prstGeom>
          <a:solidFill>
            <a:srgbClr val="D29F13"/>
          </a:solidFill>
          <a:ln w="12700">
            <a:solidFill>
              <a:srgbClr val="D29F13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43700" y="680085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685800" y="7581900"/>
            <a:ext cx="8915400" cy="9525"/>
          </a:xfrm>
          <a:prstGeom prst="rect">
            <a:avLst/>
          </a:prstGeom>
          <a:solidFill>
            <a:srgbClr val="101820">
              <a:alpha val="25000"/>
            </a:srgbClr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86650" y="788670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48665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7" name="Shape 12"/>
          <p:cNvSpPr/>
          <p:nvPr/>
        </p:nvSpPr>
        <p:spPr>
          <a:xfrm>
            <a:off x="5219700" y="788670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21970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9" name="Shape 14"/>
          <p:cNvSpPr/>
          <p:nvPr/>
        </p:nvSpPr>
        <p:spPr>
          <a:xfrm>
            <a:off x="2952750" y="788670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95275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1" name="Shape 16"/>
          <p:cNvSpPr/>
          <p:nvPr/>
        </p:nvSpPr>
        <p:spPr>
          <a:xfrm>
            <a:off x="685800" y="788670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580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85800" y="8921115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200" spc="50" kern="0" dirty="0">
                <a:solidFill>
                  <a:srgbClr val="101820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287000" cy="609600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pic>
        <p:nvPicPr>
          <p:cNvPr id="4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364" y="685800"/>
            <a:ext cx="1874836" cy="1524000"/>
          </a:xfrm>
          <a:prstGeom prst="rect">
            <a:avLst/>
          </a:prstGeom>
        </p:spPr>
      </p:pic>
      <p:pic>
        <p:nvPicPr>
          <p:cNvPr id="5" name="Image 1" descr="col8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8600"/>
            <a:ext cx="1346655" cy="546037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362200" y="255270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D29F1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عرض خاص  ·  SPECIAL OFFER</a:t>
            </a:r>
            <a:endParaRPr lang="ar-SA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2362200" y="3009900"/>
            <a:ext cx="7239000" cy="1785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ar-SA" altLang="en-US" sz="11250" b="1" dirty="0">
                <a:solidFill>
                  <a:srgbClr val="D29F1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٢٠٪</a:t>
            </a:r>
            <a:endParaRPr lang="ar-SA" sz="11250" dirty="0"/>
          </a:p>
        </p:txBody>
      </p:sp>
      <p:sp>
        <p:nvSpPr>
          <p:cNvPr id="8" name="Text 4"/>
          <p:cNvSpPr txBox="1"/>
          <p:nvPr/>
        </p:nvSpPr>
        <p:spPr>
          <a:xfrm>
            <a:off x="2362200" y="4514850"/>
            <a:ext cx="7239000" cy="766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2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خصم على باقات الإقامة</a:t>
            </a:r>
            <a:endParaRPr lang="ar-SA" sz="4200" dirty="0"/>
          </a:p>
        </p:txBody>
      </p:sp>
      <p:sp>
        <p:nvSpPr>
          <p:cNvPr id="9" name="Text 5"/>
          <p:cNvSpPr txBox="1"/>
          <p:nvPr/>
        </p:nvSpPr>
        <p:spPr>
          <a:xfrm>
            <a:off x="2362200" y="5280660"/>
            <a:ext cx="72390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650" dirty="0">
                <a:solidFill>
                  <a:srgbClr val="FFFFFF">
                    <a:alpha val="75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العرض ساري حتى ٣٠ شعبان  ·  تطبّق الشروط والأحكام</a:t>
            </a:r>
            <a:endParaRPr lang="ar-SA" sz="165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676275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101820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20% off accommodation packages</a:t>
            </a:r>
            <a:endParaRPr lang="en-US" sz="2100" dirty="0"/>
          </a:p>
        </p:txBody>
      </p:sp>
      <p:pic>
        <p:nvPicPr>
          <p:cNvPr id="11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9397365"/>
            <a:ext cx="9574094" cy="66103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743700" y="6629400"/>
            <a:ext cx="2857500" cy="609600"/>
          </a:xfrm>
          <a:prstGeom prst="rect">
            <a:avLst/>
          </a:prstGeom>
          <a:solidFill>
            <a:srgbClr val="D29F13"/>
          </a:solidFill>
          <a:ln w="12700">
            <a:solidFill>
              <a:srgbClr val="D29F13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43700" y="680085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685800" y="7581900"/>
            <a:ext cx="8915400" cy="9525"/>
          </a:xfrm>
          <a:prstGeom prst="rect">
            <a:avLst/>
          </a:prstGeom>
          <a:solidFill>
            <a:srgbClr val="101820">
              <a:alpha val="25000"/>
            </a:srgbClr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86650" y="788670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48665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7" name="Shape 12"/>
          <p:cNvSpPr/>
          <p:nvPr/>
        </p:nvSpPr>
        <p:spPr>
          <a:xfrm>
            <a:off x="5219700" y="788670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21970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9" name="Shape 14"/>
          <p:cNvSpPr/>
          <p:nvPr/>
        </p:nvSpPr>
        <p:spPr>
          <a:xfrm>
            <a:off x="2952750" y="788670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95275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1" name="Shape 16"/>
          <p:cNvSpPr/>
          <p:nvPr/>
        </p:nvSpPr>
        <p:spPr>
          <a:xfrm>
            <a:off x="685800" y="788670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580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85800" y="8921115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200" spc="50" kern="0" dirty="0">
                <a:solidFill>
                  <a:srgbClr val="101820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hoto_placeh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6096000"/>
          </a:xfrm>
          <a:prstGeom prst="rect">
            <a:avLst/>
          </a:prstGeom>
        </p:spPr>
      </p:pic>
      <p:pic>
        <p:nvPicPr>
          <p:cNvPr id="4" name="Image 1" descr="grad_bla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33600"/>
            <a:ext cx="10287000" cy="3962400"/>
          </a:xfrm>
          <a:prstGeom prst="rect">
            <a:avLst/>
          </a:prstGeom>
        </p:spPr>
      </p:pic>
      <p:pic>
        <p:nvPicPr>
          <p:cNvPr id="5" name="Image 2" descr="AlDeafah-International-Group-NEG-CMY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364" y="685800"/>
            <a:ext cx="1874836" cy="15240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85800" y="3120390"/>
            <a:ext cx="8915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D29F1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عقاراتنا  ·  OUR PROPERTIES</a:t>
            </a:r>
            <a:endParaRPr lang="ar-SA" sz="1800" dirty="0"/>
          </a:p>
        </p:txBody>
      </p:sp>
      <p:sp>
        <p:nvSpPr>
          <p:cNvPr id="7" name="Text 2"/>
          <p:cNvSpPr txBox="1"/>
          <p:nvPr/>
        </p:nvSpPr>
        <p:spPr>
          <a:xfrm>
            <a:off x="685800" y="3539490"/>
            <a:ext cx="8915400" cy="1040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57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إطلالة على الحرم</a:t>
            </a:r>
            <a:endParaRPr lang="ar-SA" sz="570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4524375"/>
            <a:ext cx="8915400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5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أجنحة في قلب مكة المكرمة</a:t>
            </a:r>
            <a:endParaRPr lang="ar-SA" sz="45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676275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101820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Suites in the heart of Makkah</a:t>
            </a:r>
            <a:endParaRPr lang="en-US" sz="2100" dirty="0"/>
          </a:p>
        </p:txBody>
      </p:sp>
      <p:pic>
        <p:nvPicPr>
          <p:cNvPr id="10" name="Image 3" descr="strip1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453" y="9397365"/>
            <a:ext cx="9574094" cy="661035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6743700" y="6629400"/>
            <a:ext cx="2857500" cy="609600"/>
          </a:xfrm>
          <a:prstGeom prst="rect">
            <a:avLst/>
          </a:prstGeom>
          <a:solidFill>
            <a:srgbClr val="D29F13"/>
          </a:solidFill>
          <a:ln w="12700">
            <a:solidFill>
              <a:srgbClr val="D29F13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6743700" y="680085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3" name="Shape 7"/>
          <p:cNvSpPr/>
          <p:nvPr/>
        </p:nvSpPr>
        <p:spPr>
          <a:xfrm>
            <a:off x="685800" y="7581900"/>
            <a:ext cx="8915400" cy="9525"/>
          </a:xfrm>
          <a:prstGeom prst="rect">
            <a:avLst/>
          </a:prstGeom>
          <a:solidFill>
            <a:srgbClr val="101820">
              <a:alpha val="25000"/>
            </a:srgbClr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7486650" y="788670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748665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6" name="Shape 10"/>
          <p:cNvSpPr/>
          <p:nvPr/>
        </p:nvSpPr>
        <p:spPr>
          <a:xfrm>
            <a:off x="5219700" y="788670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521970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8" name="Shape 12"/>
          <p:cNvSpPr/>
          <p:nvPr/>
        </p:nvSpPr>
        <p:spPr>
          <a:xfrm>
            <a:off x="2952750" y="788670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295275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0" name="Shape 14"/>
          <p:cNvSpPr/>
          <p:nvPr/>
        </p:nvSpPr>
        <p:spPr>
          <a:xfrm>
            <a:off x="685800" y="788670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8580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85800" y="8921115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200" spc="50" kern="0" dirty="0">
                <a:solidFill>
                  <a:srgbClr val="101820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pic>
        <p:nvPicPr>
          <p:cNvPr id="3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8905" y="685800"/>
            <a:ext cx="2109190" cy="1714500"/>
          </a:xfrm>
          <a:prstGeom prst="rect">
            <a:avLst/>
          </a:prstGeom>
        </p:spPr>
      </p:pic>
      <p:pic>
        <p:nvPicPr>
          <p:cNvPr id="4" name="Image 1" descr="field5x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743" y="2857500"/>
            <a:ext cx="3403515" cy="134665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4737555"/>
            <a:ext cx="89154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ar-SA" altLang="en-US" sz="7200" b="1" dirty="0">
                <a:solidFill>
                  <a:srgbClr val="D29F1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رمضان مبارك</a:t>
            </a:r>
            <a:endParaRPr lang="ar-SA" sz="72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5979615"/>
            <a:ext cx="8915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2250" spc="300" kern="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Ramadan Mubarak</a:t>
            </a:r>
            <a:endParaRPr lang="en-US" sz="225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6603502"/>
            <a:ext cx="89154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950" dirty="0">
                <a:solidFill>
                  <a:srgbClr val="FFFFFF">
                    <a:alpha val="80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تتمنّى لكم مجموعة الضيافة العالمية شهراً مباركاً</a:t>
            </a:r>
            <a:endParaRPr lang="ar-SA" sz="1950" dirty="0"/>
          </a:p>
        </p:txBody>
      </p:sp>
      <p:pic>
        <p:nvPicPr>
          <p:cNvPr id="8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9397365"/>
            <a:ext cx="9574094" cy="6610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5F2EE"/>
          </a:solidFill>
          <a:ln w="12700">
            <a:solidFill>
              <a:srgbClr val="F5F2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685800"/>
            <a:ext cx="89154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55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قائمة ما قبل النشر — احذف هذه الصفحة قبل التصدير</a:t>
            </a:r>
            <a:endParaRPr lang="ar-SA" sz="2550" dirty="0"/>
          </a:p>
        </p:txBody>
      </p:sp>
      <p:sp>
        <p:nvSpPr>
          <p:cNvPr id="4" name="Shape 2"/>
          <p:cNvSpPr/>
          <p:nvPr/>
        </p:nvSpPr>
        <p:spPr>
          <a:xfrm>
            <a:off x="8458200" y="1352550"/>
            <a:ext cx="1143000" cy="38100"/>
          </a:xfrm>
          <a:prstGeom prst="rect">
            <a:avLst/>
          </a:prstGeom>
          <a:solidFill>
            <a:srgbClr val="8E732A"/>
          </a:solidFill>
          <a:ln w="12700">
            <a:solidFill>
              <a:srgbClr val="8E73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9545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الشعار من Brand Kit أو المجلد 01 فقط؛ بلا تمدد أو تدوير أو ظل أو تغيير لون.</a:t>
            </a:r>
            <a:endParaRPr lang="ar-SA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9359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مسافة آمنة حول الشعار ≥ 0.42 × ارتفاع الرمز، وبعيد عن الحواف بالقدر نفسه.</a:t>
            </a:r>
            <a:endParaRPr lang="ar-SA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9174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الحد الأدنى: الرأسي 120 بكسل عرضاً، الأفقي 200، الرمز وحده 40.</a:t>
            </a:r>
            <a:endParaRPr lang="ar-SA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88988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النقشة: بلوكات كاملة فقط (لا قصّ)، أقلها 2×2، لا تلامس الحافة.</a:t>
            </a:r>
            <a:endParaRPr lang="ar-SA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28803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الخط العربي Almarai فقط؛ اللاتيني كما في القالب. لا خط ثالث.</a:t>
            </a:r>
            <a:endParaRPr lang="ar-SA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68617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الألوان من Brand Kit فقط؛ لا أصفر/رمادي/أخضر/بيج كنص على أبيض.</a:t>
            </a:r>
            <a:endParaRPr lang="ar-SA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08432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لا آيات، لا أسماء الله، لا صور للكعبة أو الحرم كزخرفة.</a:t>
            </a:r>
            <a:endParaRPr lang="ar-SA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48246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النص العربي RTL، الأرقام والهواتف LTR داخل السطر.</a:t>
            </a:r>
            <a:endParaRPr lang="ar-SA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88061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أي نص فوق صورة يحتاج تدرجاً أسود تحته (موجود في صفحة العقار).</a:t>
            </a:r>
            <a:endParaRPr lang="ar-SA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27875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احذف هذه الصفحة قبل التصدير. التصدير: PNG للسوشيال.</a:t>
            </a:r>
            <a:endParaRPr lang="ar-SA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ADIG_Social_Square_Default_Light</dc:title>
  <dc:subject>PptxGenJS Presentation</dc:subject>
  <dc:creator>PptxGenJS</dc:creator>
  <cp:lastModifiedBy>PptxGenJS</cp:lastModifiedBy>
  <cp:revision>1</cp:revision>
  <dcterms:created xsi:type="dcterms:W3CDTF">2026-10-14T21:25:30Z</dcterms:created>
  <dcterms:modified xsi:type="dcterms:W3CDTF">2026-10-14T21:25:30Z</dcterms:modified>
</cp:coreProperties>
</file>