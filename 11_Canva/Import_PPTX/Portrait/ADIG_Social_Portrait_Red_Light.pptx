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0287000" cy="12858750"/>
  <p:notesSz cx="1285875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8575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إعلان  ·  ANNOUNCEMENT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352800"/>
            <a:ext cx="72390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انطلاق موسم العمرة</a:t>
            </a:r>
            <a:endParaRPr lang="ar-SA" sz="570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4318635"/>
            <a:ext cx="72390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لعام ١٤٤٨ هـ</a:t>
            </a:r>
            <a:endParaRPr lang="ar-SA" sz="4500" dirty="0"/>
          </a:p>
        </p:txBody>
      </p:sp>
      <p:sp>
        <p:nvSpPr>
          <p:cNvPr id="9" name="Shape 5"/>
          <p:cNvSpPr/>
          <p:nvPr/>
        </p:nvSpPr>
        <p:spPr>
          <a:xfrm>
            <a:off x="8458200" y="5242560"/>
            <a:ext cx="1143000" cy="381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Umrah season 1448 — bookings now open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0287000" cy="762000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4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pic>
        <p:nvPicPr>
          <p:cNvPr id="5" name="Image 1" descr="col1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228600"/>
            <a:ext cx="1346655" cy="6831614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362200" y="274320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عرض خاص  ·  SPECIAL OFFER</a:t>
            </a:r>
            <a:endParaRPr lang="ar-SA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2362200" y="3200400"/>
            <a:ext cx="7239000" cy="22621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00000"/>
              </a:lnSpc>
              <a:buNone/>
            </a:pPr>
            <a:r>
              <a:rPr lang="ar-SA" altLang="en-US" sz="1425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٢٠٪</a:t>
            </a:r>
            <a:endParaRPr lang="ar-SA" sz="14250" dirty="0"/>
          </a:p>
        </p:txBody>
      </p:sp>
      <p:sp>
        <p:nvSpPr>
          <p:cNvPr id="8" name="Text 4"/>
          <p:cNvSpPr txBox="1"/>
          <p:nvPr/>
        </p:nvSpPr>
        <p:spPr>
          <a:xfrm>
            <a:off x="2362200" y="5086350"/>
            <a:ext cx="7239000" cy="766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2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خصم على باقات الإقامة</a:t>
            </a:r>
            <a:endParaRPr lang="ar-SA" sz="4200" dirty="0"/>
          </a:p>
        </p:txBody>
      </p:sp>
      <p:sp>
        <p:nvSpPr>
          <p:cNvPr id="9" name="Text 5"/>
          <p:cNvSpPr txBox="1"/>
          <p:nvPr/>
        </p:nvSpPr>
        <p:spPr>
          <a:xfrm>
            <a:off x="2362200" y="5852160"/>
            <a:ext cx="72390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650" dirty="0">
                <a:solidFill>
                  <a:srgbClr val="FFFFFF">
                    <a:alpha val="75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العرض ساري حتى ٣٠ شعبان  ·  تطبّق الشروط والأحكام</a:t>
            </a:r>
            <a:endParaRPr lang="ar-SA" sz="1650" dirty="0"/>
          </a:p>
        </p:txBody>
      </p:sp>
      <p:sp>
        <p:nvSpPr>
          <p:cNvPr id="10" name="Text 6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20% off accommodation packages</a:t>
            </a:r>
            <a:endParaRPr lang="en-US" sz="2100" dirty="0"/>
          </a:p>
        </p:txBody>
      </p:sp>
      <p:pic>
        <p:nvPicPr>
          <p:cNvPr id="11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4" name="Shape 9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7" name="Shape 12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9" name="Shape 14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1" name="Shape 16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photo_placehold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7620000"/>
          </a:xfrm>
          <a:prstGeom prst="rect">
            <a:avLst/>
          </a:prstGeom>
        </p:spPr>
      </p:pic>
      <p:pic>
        <p:nvPicPr>
          <p:cNvPr id="4" name="Image 1" descr="grad_bla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7000"/>
            <a:ext cx="10287000" cy="4953000"/>
          </a:xfrm>
          <a:prstGeom prst="rect">
            <a:avLst/>
          </a:prstGeom>
        </p:spPr>
      </p:pic>
      <p:pic>
        <p:nvPicPr>
          <p:cNvPr id="5" name="Image 2" descr="AlDeafah-International-Group-NEG-CMY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2010" y="685800"/>
            <a:ext cx="2109190" cy="171450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685800" y="4644390"/>
            <a:ext cx="89154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1800" b="1" spc="100" kern="0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عقاراتنا  ·  OUR PROPERTIES</a:t>
            </a:r>
            <a:endParaRPr lang="ar-SA" sz="1800" dirty="0"/>
          </a:p>
        </p:txBody>
      </p:sp>
      <p:sp>
        <p:nvSpPr>
          <p:cNvPr id="7" name="Text 2"/>
          <p:cNvSpPr txBox="1"/>
          <p:nvPr/>
        </p:nvSpPr>
        <p:spPr>
          <a:xfrm>
            <a:off x="685800" y="5063490"/>
            <a:ext cx="8915400" cy="10406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5700" b="1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إطلالة على الحرم</a:t>
            </a:r>
            <a:endParaRPr lang="ar-SA" sz="5700" dirty="0"/>
          </a:p>
        </p:txBody>
      </p:sp>
      <p:sp>
        <p:nvSpPr>
          <p:cNvPr id="8" name="Text 3"/>
          <p:cNvSpPr txBox="1"/>
          <p:nvPr/>
        </p:nvSpPr>
        <p:spPr>
          <a:xfrm>
            <a:off x="685800" y="6048375"/>
            <a:ext cx="8915400" cy="8215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15000"/>
              </a:lnSpc>
              <a:buNone/>
            </a:pPr>
            <a:r>
              <a:rPr lang="ar-SA" altLang="en-US" sz="4500" dirty="0">
                <a:solidFill>
                  <a:srgbClr val="FFFFF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أجنحة في قلب مكة المكرمة</a:t>
            </a:r>
            <a:endParaRPr lang="ar-SA" sz="4500" dirty="0"/>
          </a:p>
        </p:txBody>
      </p:sp>
      <p:sp>
        <p:nvSpPr>
          <p:cNvPr id="9" name="Text 4"/>
          <p:cNvSpPr txBox="1"/>
          <p:nvPr/>
        </p:nvSpPr>
        <p:spPr>
          <a:xfrm>
            <a:off x="685800" y="8286750"/>
            <a:ext cx="58293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2100" dirty="0">
                <a:solidFill>
                  <a:srgbClr val="101820">
                    <a:alpha val="75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Suites in the heart of Makkah</a:t>
            </a:r>
            <a:endParaRPr lang="en-US" sz="2100" dirty="0"/>
          </a:p>
        </p:txBody>
      </p:sp>
      <p:pic>
        <p:nvPicPr>
          <p:cNvPr id="10" name="Image 3" descr="strip14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  <p:sp>
        <p:nvSpPr>
          <p:cNvPr id="11" name="Shape 5"/>
          <p:cNvSpPr/>
          <p:nvPr/>
        </p:nvSpPr>
        <p:spPr>
          <a:xfrm>
            <a:off x="6743700" y="8153400"/>
            <a:ext cx="2857500" cy="609600"/>
          </a:xfrm>
          <a:prstGeom prst="rect">
            <a:avLst/>
          </a:prstGeom>
          <a:solidFill>
            <a:srgbClr val="E1B87F"/>
          </a:solidFill>
          <a:ln w="12700">
            <a:solidFill>
              <a:srgbClr val="E1B87F"/>
            </a:solidFill>
            <a:prstDash val="solid"/>
          </a:ln>
        </p:spPr>
      </p:sp>
      <p:sp>
        <p:nvSpPr>
          <p:cNvPr id="12" name="Text 6"/>
          <p:cNvSpPr txBox="1"/>
          <p:nvPr/>
        </p:nvSpPr>
        <p:spPr>
          <a:xfrm>
            <a:off x="6743700" y="8324850"/>
            <a:ext cx="28575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1650" b="1" dirty="0">
                <a:solidFill>
                  <a:srgbClr val="101820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www.deafah.com</a:t>
            </a:r>
            <a:endParaRPr lang="en-US" sz="1650" dirty="0"/>
          </a:p>
        </p:txBody>
      </p:sp>
      <p:sp>
        <p:nvSpPr>
          <p:cNvPr id="13" name="Shape 7"/>
          <p:cNvSpPr/>
          <p:nvPr/>
        </p:nvSpPr>
        <p:spPr>
          <a:xfrm>
            <a:off x="685800" y="9105900"/>
            <a:ext cx="8915400" cy="9525"/>
          </a:xfrm>
          <a:prstGeom prst="rect">
            <a:avLst/>
          </a:prstGeom>
          <a:solidFill>
            <a:srgbClr val="101820">
              <a:alpha val="25000"/>
            </a:srgbClr>
          </a:solidFill>
          <a:ln w="12700">
            <a:solidFill>
              <a:srgbClr val="101820"/>
            </a:solidFill>
            <a:prstDash val="solid"/>
          </a:ln>
        </p:spPr>
      </p:sp>
      <p:sp>
        <p:nvSpPr>
          <p:cNvPr id="14" name="Shape 8"/>
          <p:cNvSpPr/>
          <p:nvPr/>
        </p:nvSpPr>
        <p:spPr>
          <a:xfrm>
            <a:off x="74866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74866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عمرة</a:t>
            </a:r>
            <a:endParaRPr lang="ar-SA" sz="1800" dirty="0"/>
          </a:p>
        </p:txBody>
      </p:sp>
      <p:sp>
        <p:nvSpPr>
          <p:cNvPr id="16" name="Shape 10"/>
          <p:cNvSpPr/>
          <p:nvPr/>
        </p:nvSpPr>
        <p:spPr>
          <a:xfrm>
            <a:off x="52197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52197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نقل</a:t>
            </a:r>
            <a:endParaRPr lang="ar-SA" sz="1800" dirty="0"/>
          </a:p>
        </p:txBody>
      </p:sp>
      <p:sp>
        <p:nvSpPr>
          <p:cNvPr id="18" name="Shape 12"/>
          <p:cNvSpPr/>
          <p:nvPr/>
        </p:nvSpPr>
        <p:spPr>
          <a:xfrm>
            <a:off x="295275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295275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فنادق</a:t>
            </a:r>
            <a:endParaRPr lang="ar-SA" sz="1800" dirty="0"/>
          </a:p>
        </p:txBody>
      </p:sp>
      <p:sp>
        <p:nvSpPr>
          <p:cNvPr id="20" name="Shape 14"/>
          <p:cNvSpPr/>
          <p:nvPr/>
        </p:nvSpPr>
        <p:spPr>
          <a:xfrm>
            <a:off x="685800" y="9410700"/>
            <a:ext cx="2114550" cy="609600"/>
          </a:xfrm>
          <a:prstGeom prst="rect">
            <a:avLst/>
          </a:prstGeom>
          <a:ln w="19050">
            <a:solidFill>
              <a:srgbClr val="E1B87F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85800" y="9563100"/>
            <a:ext cx="21145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80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إعاشة</a:t>
            </a:r>
            <a:endParaRPr lang="ar-SA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" y="11492865"/>
            <a:ext cx="8915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altLang="en-US" sz="1200" spc="50" kern="0" dirty="0">
                <a:solidFill>
                  <a:srgbClr val="101820">
                    <a:alpha val="60000"/>
                  </a:srgbClr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Al Deafah International Group  ·  Umrah  ·  Transportation  ·  Hotels  ·  Catering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C10016"/>
          </a:solidFill>
          <a:ln w="12700">
            <a:solidFill>
              <a:srgbClr val="C10016"/>
            </a:solidFill>
            <a:prstDash val="solid"/>
          </a:ln>
        </p:spPr>
      </p:sp>
      <p:pic>
        <p:nvPicPr>
          <p:cNvPr id="3" name="Image 0" descr="AlDeafah-International-Group-NEG-CMY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1728" y="685800"/>
            <a:ext cx="2343544" cy="1905000"/>
          </a:xfrm>
          <a:prstGeom prst="rect">
            <a:avLst/>
          </a:prstGeom>
        </p:spPr>
      </p:pic>
      <p:pic>
        <p:nvPicPr>
          <p:cNvPr id="4" name="Image 1" descr="field5x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1743" y="3048000"/>
            <a:ext cx="3403515" cy="1346655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685800" y="4928055"/>
            <a:ext cx="8915400" cy="1314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15000"/>
              </a:lnSpc>
              <a:buNone/>
            </a:pPr>
            <a:r>
              <a:rPr lang="ar-SA" altLang="en-US" sz="7200" b="1" dirty="0">
                <a:solidFill>
                  <a:srgbClr val="E1B87F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رمضان مبارك</a:t>
            </a:r>
            <a:endParaRPr lang="ar-SA" sz="7200" dirty="0"/>
          </a:p>
        </p:txBody>
      </p:sp>
      <p:sp>
        <p:nvSpPr>
          <p:cNvPr id="6" name="Text 2"/>
          <p:cNvSpPr txBox="1"/>
          <p:nvPr/>
        </p:nvSpPr>
        <p:spPr>
          <a:xfrm>
            <a:off x="685800" y="6170115"/>
            <a:ext cx="89154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altLang="en-US" sz="2250" spc="300" kern="0" dirty="0">
                <a:solidFill>
                  <a:srgbClr val="FFFFFF"/>
                </a:solidFill>
                <a:latin typeface="Avenir Next" pitchFamily="34" charset="0"/>
                <a:ea typeface="Avenir Next" pitchFamily="34" charset="-122"/>
                <a:cs typeface="Avenir Next" pitchFamily="34" charset="-120"/>
              </a:rPr>
              <a:t>Ramadan Mubarak</a:t>
            </a:r>
            <a:endParaRPr lang="en-US" sz="2250" dirty="0"/>
          </a:p>
        </p:txBody>
      </p:sp>
      <p:sp>
        <p:nvSpPr>
          <p:cNvPr id="7" name="Text 3"/>
          <p:cNvSpPr txBox="1"/>
          <p:nvPr/>
        </p:nvSpPr>
        <p:spPr>
          <a:xfrm>
            <a:off x="685800" y="6794002"/>
            <a:ext cx="891540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950" dirty="0">
                <a:solidFill>
                  <a:srgbClr val="FFFFFF">
                    <a:alpha val="80000"/>
                  </a:srgbClr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تتمنّى لكم مجموعة الضيافة العالمية شهراً مباركاً</a:t>
            </a:r>
            <a:endParaRPr lang="ar-SA" sz="1950" dirty="0"/>
          </a:p>
        </p:txBody>
      </p:sp>
      <p:pic>
        <p:nvPicPr>
          <p:cNvPr id="8" name="Image 2" descr="strip14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453" y="11969115"/>
            <a:ext cx="9574094" cy="66103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287000" cy="12858750"/>
          </a:xfrm>
          <a:prstGeom prst="rect">
            <a:avLst/>
          </a:prstGeom>
          <a:solidFill>
            <a:srgbClr val="F5F2EE"/>
          </a:solidFill>
          <a:ln w="12700">
            <a:solidFill>
              <a:srgbClr val="F5F2E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685800"/>
            <a:ext cx="89154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20000"/>
              </a:lnSpc>
              <a:buNone/>
            </a:pPr>
            <a:r>
              <a:rPr lang="ar-SA" altLang="en-US" sz="2550" b="1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قائمة ما قبل النشر — احذف هذه الصفحة قبل التصدير</a:t>
            </a:r>
            <a:endParaRPr lang="ar-SA" sz="2550" dirty="0"/>
          </a:p>
        </p:txBody>
      </p:sp>
      <p:sp>
        <p:nvSpPr>
          <p:cNvPr id="4" name="Shape 2"/>
          <p:cNvSpPr/>
          <p:nvPr/>
        </p:nvSpPr>
        <p:spPr>
          <a:xfrm>
            <a:off x="8458200" y="1352550"/>
            <a:ext cx="1143000" cy="38100"/>
          </a:xfrm>
          <a:prstGeom prst="rect">
            <a:avLst/>
          </a:prstGeom>
          <a:solidFill>
            <a:srgbClr val="8E732A"/>
          </a:solidFill>
          <a:ln w="12700">
            <a:solidFill>
              <a:srgbClr val="8E732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9545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الشعار من Brand Kit أو المجلد 01 فقط؛ بلا تمدد أو تدوير أو ظل أو تغيير لون.</a:t>
            </a:r>
            <a:endParaRPr lang="ar-SA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09359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مسافة آمنة حول الشعار ≥ 0.42 × ارتفاع الرمز، وبعيد عن الحواف بالقدر نفسه.</a:t>
            </a:r>
            <a:endParaRPr lang="ar-SA" sz="16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49174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الحد الأدنى: الرأسي 120 بكسل عرضاً، الأفقي 200، الرمز وحده 40.</a:t>
            </a:r>
            <a:endParaRPr lang="ar-SA" sz="16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88988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النقشة: بلوكات كاملة فقط (لا قصّ)، أقلها 2×2، لا تلامس الحافة.</a:t>
            </a:r>
            <a:endParaRPr lang="ar-SA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28803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الخط العربي Almarai فقط؛ اللاتيني كما في القالب. لا خط ثالث.</a:t>
            </a:r>
            <a:endParaRPr lang="ar-SA" sz="165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68617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الألوان من Brand Kit فقط؛ لا أصفر/رمادي/أخضر/بيج كنص على أبيض.</a:t>
            </a:r>
            <a:endParaRPr lang="ar-SA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408432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لا آيات، لا أسماء الله، لا صور للكعبة أو الحرم كزخرفة.</a:t>
            </a:r>
            <a:endParaRPr lang="ar-SA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48246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النص العربي RTL، الأرقام والهواتف LTR داخل السطر.</a:t>
            </a:r>
            <a:endParaRPr lang="ar-SA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4880610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أي نص فوق صورة يحتاج تدرجاً أسود تحته (موجود في صفحة العقار).</a:t>
            </a:r>
            <a:endParaRPr lang="ar-SA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5278755"/>
            <a:ext cx="8915400" cy="3667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rtl="1" algn="r" indent="0" marL="0">
              <a:lnSpc>
                <a:spcPct val="140000"/>
              </a:lnSpc>
              <a:buNone/>
            </a:pPr>
            <a:r>
              <a:rPr lang="ar-SA" altLang="en-US" sz="1650" dirty="0">
                <a:solidFill>
                  <a:srgbClr val="101820"/>
                </a:solidFill>
                <a:latin typeface="Almarai" pitchFamily="34" charset="0"/>
                <a:ea typeface="Almarai" pitchFamily="34" charset="-122"/>
                <a:cs typeface="Almarai" pitchFamily="34" charset="-120"/>
              </a:rPr>
              <a:t>☐  احذف هذه الصفحة قبل التصدير. التصدير: PNG للسوشيال.</a:t>
            </a:r>
            <a:endParaRPr lang="ar-SA" sz="1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ADIG_Social_Portrait_Red_Light</dc:title>
  <dc:subject>PptxGenJS Presentation</dc:subject>
  <dc:creator>PptxGenJS</dc:creator>
  <cp:lastModifiedBy>PptxGenJS</cp:lastModifiedBy>
  <cp:revision>1</cp:revision>
  <dcterms:created xsi:type="dcterms:W3CDTF">2026-10-14T21:25:30Z</dcterms:created>
  <dcterms:modified xsi:type="dcterms:W3CDTF">2026-10-14T21:25:30Z</dcterms:modified>
</cp:coreProperties>
</file>